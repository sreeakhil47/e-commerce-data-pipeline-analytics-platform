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779" r:id="rId2"/>
    <p:sldId id="789" r:id="rId3"/>
    <p:sldId id="780" r:id="rId4"/>
    <p:sldId id="783" r:id="rId5"/>
    <p:sldId id="784" r:id="rId6"/>
    <p:sldId id="798" r:id="rId7"/>
    <p:sldId id="799" r:id="rId8"/>
    <p:sldId id="800" r:id="rId9"/>
    <p:sldId id="801" r:id="rId10"/>
    <p:sldId id="802" r:id="rId11"/>
    <p:sldId id="803" r:id="rId12"/>
    <p:sldId id="796" r:id="rId13"/>
    <p:sldId id="804" r:id="rId14"/>
    <p:sldId id="805" r:id="rId15"/>
    <p:sldId id="806" r:id="rId16"/>
    <p:sldId id="7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08" autoAdjust="0"/>
    <p:restoredTop sz="94660"/>
  </p:normalViewPr>
  <p:slideViewPr>
    <p:cSldViewPr snapToGrid="0">
      <p:cViewPr>
        <p:scale>
          <a:sx n="136" d="100"/>
          <a:sy n="136" d="100"/>
        </p:scale>
        <p:origin x="704" y="3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27/10/26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27/10/26</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27/10/26</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27/10/26</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27/10/26</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27/10/26</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27/10/26</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27/10/26</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27/10/26</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27/10/26</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27/10/26</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27/10/26</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27/10/26</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171B3D-41F2-4B45-860B-5E3607A31D49}"/>
              </a:ext>
            </a:extLst>
          </p:cNvPr>
          <p:cNvSpPr txBox="1"/>
          <p:nvPr/>
        </p:nvSpPr>
        <p:spPr>
          <a:xfrm>
            <a:off x="2398217" y="94410"/>
            <a:ext cx="7095897" cy="1454244"/>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      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Secunderabad</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 500 100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1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BE8A074-7A92-49E2-B981-AE2FCEAEB324}"/>
              </a:ext>
            </a:extLst>
          </p:cNvPr>
          <p:cNvSpPr txBox="1"/>
          <p:nvPr/>
        </p:nvSpPr>
        <p:spPr>
          <a:xfrm>
            <a:off x="2891786" y="3339576"/>
            <a:ext cx="6408426" cy="1938992"/>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13</a:t>
            </a:r>
          </a:p>
          <a:p>
            <a:r>
              <a:rPr lang="en-US" sz="2400" b="1" dirty="0">
                <a:latin typeface="Times New Roman" pitchFamily="18" charset="0"/>
                <a:cs typeface="Times New Roman" pitchFamily="18" charset="0"/>
              </a:rPr>
              <a:t>1. M. Rajesh                                 (23K81A7296)</a:t>
            </a:r>
          </a:p>
          <a:p>
            <a:r>
              <a:rPr lang="en-US" sz="2400" b="1" dirty="0">
                <a:latin typeface="Times New Roman" pitchFamily="18" charset="0"/>
                <a:cs typeface="Times New Roman" pitchFamily="18" charset="0"/>
              </a:rPr>
              <a:t>2. K. Sree Akhil                            (23K81A7292)</a:t>
            </a:r>
          </a:p>
          <a:p>
            <a:r>
              <a:rPr lang="en-US" sz="2400" b="1" dirty="0">
                <a:latin typeface="Times New Roman" pitchFamily="18" charset="0"/>
                <a:cs typeface="Times New Roman" pitchFamily="18" charset="0"/>
              </a:rPr>
              <a:t>3. Ch. Ram Mahideep Varma     (23K81A7279)</a:t>
            </a:r>
          </a:p>
          <a:p>
            <a:pPr algn="ctr"/>
            <a:endParaRPr lang="en-US" sz="24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814846BF-F4EE-4ADF-8E6D-318E4ACE8748}"/>
              </a:ext>
            </a:extLst>
          </p:cNvPr>
          <p:cNvSpPr txBox="1"/>
          <p:nvPr/>
        </p:nvSpPr>
        <p:spPr>
          <a:xfrm>
            <a:off x="-149835" y="519393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IN" sz="2400" b="1" dirty="0">
                <a:latin typeface="Times New Roman" panose="02020603050405020304" pitchFamily="18" charset="0"/>
                <a:cs typeface="Times New Roman" panose="02020603050405020304" pitchFamily="18" charset="0"/>
              </a:rPr>
              <a:t>Mr. M. Rajaram</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Artificial Intelligence &amp; Data Science (AI&amp;DS)</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653947"/>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Artificial Intelligence &amp; Data Science (AI&amp;DS)</a:t>
            </a:r>
          </a:p>
        </p:txBody>
      </p:sp>
      <p:sp>
        <p:nvSpPr>
          <p:cNvPr id="7" name="TextBox 6">
            <a:extLst>
              <a:ext uri="{FF2B5EF4-FFF2-40B4-BE49-F238E27FC236}">
                <a16:creationId xmlns:a16="http://schemas.microsoft.com/office/drawing/2014/main" id="{9DB15AF4-7A16-6A88-7569-613D0C5F7270}"/>
              </a:ext>
            </a:extLst>
          </p:cNvPr>
          <p:cNvSpPr txBox="1"/>
          <p:nvPr/>
        </p:nvSpPr>
        <p:spPr>
          <a:xfrm>
            <a:off x="1552576" y="2510358"/>
            <a:ext cx="9086847" cy="461665"/>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E – COMMERCE DATA PIPELINE &amp; ANALYTICS PLATFORM</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fontScale="92500" lnSpcReduction="10000"/>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US" dirty="0">
                <a:latin typeface="Times New Roman" panose="02020603050405020304" pitchFamily="18" charset="0"/>
                <a:cs typeface="Times New Roman" panose="02020603050405020304" pitchFamily="18" charset="0"/>
              </a:rPr>
              <a:t>Architectural Design For Proposed System</a:t>
            </a:r>
          </a:p>
          <a:p>
            <a:pPr marL="457200" indent="-457200" algn="just">
              <a:lnSpc>
                <a:spcPct val="150000"/>
              </a:lnSpc>
              <a:spcBef>
                <a:spcPts val="415"/>
              </a:spcBef>
              <a:buSzPct val="80000"/>
              <a:buFont typeface="+mj-lt"/>
              <a:buAutoNum type="arabicPeriod"/>
              <a:tabLst>
                <a:tab pos="367030" algn="l"/>
              </a:tabLst>
            </a:pPr>
            <a:r>
              <a:rPr lang="en-US" dirty="0">
                <a:latin typeface="Times New Roman" panose="02020603050405020304" pitchFamily="18" charset="0"/>
                <a:cs typeface="Times New Roman" panose="02020603050405020304" pitchFamily="18" charset="0"/>
              </a:rPr>
              <a:t>ER Diagram / Flow Diagram / Use Case Diagram</a:t>
            </a:r>
          </a:p>
          <a:p>
            <a:pPr marL="457200" indent="-457200" algn="just">
              <a:lnSpc>
                <a:spcPct val="150000"/>
              </a:lnSpc>
              <a:spcBef>
                <a:spcPts val="415"/>
              </a:spcBef>
              <a:buSzPct val="80000"/>
              <a:buFont typeface="+mj-lt"/>
              <a:buAutoNum type="arabicPeriod"/>
              <a:tabLst>
                <a:tab pos="367030" algn="l"/>
              </a:tabLst>
            </a:pPr>
            <a:r>
              <a:rPr lang="en-US" dirty="0">
                <a:latin typeface="Times New Roman" panose="02020603050405020304" pitchFamily="18" charset="0"/>
                <a:cs typeface="Times New Roman" panose="02020603050405020304" pitchFamily="18" charset="0"/>
              </a:rPr>
              <a:t>Algorithms Used With Complexity</a:t>
            </a:r>
          </a:p>
          <a:p>
            <a:pPr marL="457200" indent="-457200" algn="just">
              <a:lnSpc>
                <a:spcPct val="150000"/>
              </a:lnSpc>
              <a:spcBef>
                <a:spcPts val="415"/>
              </a:spcBef>
              <a:buSzPct val="80000"/>
              <a:buFont typeface="+mj-lt"/>
              <a:buAutoNum type="arabicPeriod"/>
              <a:tabLst>
                <a:tab pos="367030" algn="l"/>
              </a:tabLst>
            </a:pPr>
            <a:r>
              <a:rPr lang="en-US" dirty="0">
                <a:latin typeface="Times New Roman" panose="02020603050405020304" pitchFamily="18" charset="0"/>
                <a:cs typeface="Times New Roman" panose="02020603050405020304" pitchFamily="18" charset="0"/>
              </a:rPr>
              <a:t>Expected Outcomes</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References</a:t>
            </a:r>
          </a:p>
          <a:p>
            <a:pPr marL="457200" indent="-457200" algn="just">
              <a:lnSpc>
                <a:spcPct val="150000"/>
              </a:lnSpc>
              <a:spcBef>
                <a:spcPts val="415"/>
              </a:spcBef>
              <a:buSzPct val="80000"/>
              <a:buFont typeface="+mj-lt"/>
              <a:buAutoNum type="arabicPeriod"/>
              <a:tabLst>
                <a:tab pos="367030" algn="l"/>
              </a:tabLst>
            </a:pPr>
            <a:r>
              <a:rPr lang="en-US" dirty="0">
                <a:latin typeface="Times New Roman" panose="02020603050405020304" pitchFamily="18" charset="0"/>
                <a:cs typeface="Times New Roman" panose="02020603050405020304" pitchFamily="18" charset="0"/>
              </a:rPr>
              <a:t>30% Code Implementation</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0" y="942342"/>
            <a:ext cx="12191999" cy="5915657"/>
          </a:xfrm>
        </p:spPr>
        <p:txBody>
          <a:bodyPr>
            <a:noAutofit/>
          </a:bodyPr>
          <a:lstStyle/>
          <a:p>
            <a:pPr marL="0" indent="0" algn="just">
              <a:lnSpc>
                <a:spcPct val="120000"/>
              </a:lnSpc>
              <a:buNone/>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 – Commerce Data Pipeline &amp; Analytics Platform</a:t>
            </a:r>
            <a:r>
              <a:rPr lang="en-IN" sz="2000" dirty="0">
                <a:latin typeface="Times New Roman" panose="02020603050405020304" pitchFamily="18" charset="0"/>
                <a:cs typeface="Times New Roman" panose="02020603050405020304" pitchFamily="18" charset="0"/>
              </a:rPr>
              <a:t> is a data – driven system designed to collect, process, store, analyse, and visualize e – commerce business data to support better decision – making and business intelligence. In modern e – commerce environments, organizations generate large volumes of data through customer interactions, product sales, payments, orders, and reviews. Managing and extracting meaningful insights from this data manually becomes inefficient and time – consuming. Data is collected from multiple sources such as CSV files and databases containing information related to customers, products, transactions, orders, and payment details. During the extraction phase, data is gathered from these sources and prepared for processing. In the transformation phase, the system performs data cleaning, handling missing values, removing duplicate records, standardizing formats, and generating calculated business metrics. Finally, the processed data is loaded into a structured database for efficient storage and retrieval.</a:t>
            </a:r>
          </a:p>
          <a:p>
            <a:pPr marL="0" indent="0" algn="just">
              <a:lnSpc>
                <a:spcPct val="120000"/>
              </a:lnSpc>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KEYWORDS:</a:t>
            </a:r>
            <a:r>
              <a:rPr lang="en-IN" sz="2000" dirty="0">
                <a:latin typeface="Times New Roman" panose="02020603050405020304" pitchFamily="18" charset="0"/>
                <a:cs typeface="Times New Roman" panose="02020603050405020304" pitchFamily="18" charset="0"/>
              </a:rPr>
              <a:t> E-Commerce Analytics, Data Pipeline, ETL, Business Intelligence, Data Visualization, Power BI,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SQL, Python, Predictive Analytics, Data Engineering.</a:t>
            </a:r>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942342"/>
            <a:ext cx="12191999" cy="5915657"/>
          </a:xfrm>
        </p:spPr>
        <p:txBody>
          <a:bodyPr>
            <a:noAutofit/>
          </a:bodyPr>
          <a:lstStyle/>
          <a:p>
            <a:pPr algn="just">
              <a:lnSpc>
                <a:spcPct val="100000"/>
              </a:lnSpc>
            </a:pPr>
            <a:r>
              <a:rPr lang="en-IN" sz="2000" dirty="0">
                <a:latin typeface="Times New Roman" panose="02020603050405020304" pitchFamily="18" charset="0"/>
                <a:cs typeface="Times New Roman" panose="02020603050405020304" pitchFamily="18" charset="0"/>
              </a:rPr>
              <a:t>In existing approach, the e – commerce data is collected from different fields such as </a:t>
            </a:r>
            <a:r>
              <a:rPr lang="en-IN" sz="2000" b="1" dirty="0">
                <a:latin typeface="Times New Roman" panose="02020603050405020304" pitchFamily="18" charset="0"/>
                <a:cs typeface="Times New Roman" panose="02020603050405020304" pitchFamily="18" charset="0"/>
              </a:rPr>
              <a:t>customer records, customer reviews, products, orders, payments, and sellers. </a:t>
            </a:r>
            <a:r>
              <a:rPr lang="en-IN" sz="2000" dirty="0">
                <a:latin typeface="Times New Roman" panose="02020603050405020304" pitchFamily="18" charset="0"/>
                <a:cs typeface="Times New Roman" panose="02020603050405020304" pitchFamily="18" charset="0"/>
              </a:rPr>
              <a:t>These data sources may be maintained separately in </a:t>
            </a:r>
            <a:r>
              <a:rPr lang="en-IN" sz="2000" b="1" dirty="0">
                <a:latin typeface="Times New Roman" panose="02020603050405020304" pitchFamily="18" charset="0"/>
                <a:cs typeface="Times New Roman" panose="02020603050405020304" pitchFamily="18" charset="0"/>
              </a:rPr>
              <a:t>CSV files, spreadsheets, application databases, or different business systems. </a:t>
            </a:r>
            <a:r>
              <a:rPr lang="en-IN" sz="2000" dirty="0">
                <a:latin typeface="Times New Roman" panose="02020603050405020304" pitchFamily="18" charset="0"/>
                <a:cs typeface="Times New Roman" panose="02020603050405020304" pitchFamily="18" charset="0"/>
              </a:rPr>
              <a:t>And to perform analysis, the data often needs to be manually </a:t>
            </a:r>
            <a:r>
              <a:rPr lang="en-IN" sz="2000" b="1" dirty="0">
                <a:latin typeface="Times New Roman" panose="02020603050405020304" pitchFamily="18" charset="0"/>
                <a:cs typeface="Times New Roman" panose="02020603050405020304" pitchFamily="18" charset="0"/>
              </a:rPr>
              <a:t>collected, cleaned, combined, and prepared</a:t>
            </a:r>
            <a:r>
              <a:rPr lang="en-IN" sz="2000" dirty="0">
                <a:latin typeface="Times New Roman" panose="02020603050405020304" pitchFamily="18" charset="0"/>
                <a:cs typeface="Times New Roman" panose="02020603050405020304" pitchFamily="18" charset="0"/>
              </a:rPr>
              <a:t> before it can be used. </a:t>
            </a:r>
          </a:p>
          <a:p>
            <a:pPr algn="just">
              <a:lnSpc>
                <a:spcPct val="100000"/>
              </a:lnSpc>
            </a:pPr>
            <a:r>
              <a:rPr lang="en-IN" sz="2000" dirty="0">
                <a:latin typeface="Times New Roman" panose="02020603050405020304" pitchFamily="18" charset="0"/>
                <a:cs typeface="Times New Roman" panose="02020603050405020304" pitchFamily="18" charset="0"/>
              </a:rPr>
              <a:t>Data analysts may use tools such as </a:t>
            </a:r>
            <a:r>
              <a:rPr lang="en-IN" sz="2000" b="1" dirty="0">
                <a:latin typeface="Times New Roman" panose="02020603050405020304" pitchFamily="18" charset="0"/>
                <a:cs typeface="Times New Roman" panose="02020603050405020304" pitchFamily="18" charset="0"/>
              </a:rPr>
              <a:t>Excel, Python, SQL,</a:t>
            </a:r>
            <a:r>
              <a:rPr lang="en-IN" sz="2000" dirty="0">
                <a:latin typeface="Times New Roman" panose="02020603050405020304" pitchFamily="18" charset="0"/>
                <a:cs typeface="Times New Roman" panose="02020603050405020304" pitchFamily="18" charset="0"/>
              </a:rPr>
              <a:t> or separate </a:t>
            </a:r>
            <a:r>
              <a:rPr lang="en-IN" sz="2000" b="1" dirty="0">
                <a:latin typeface="Times New Roman" panose="02020603050405020304" pitchFamily="18" charset="0"/>
                <a:cs typeface="Times New Roman" panose="02020603050405020304" pitchFamily="18" charset="0"/>
              </a:rPr>
              <a:t>business intelligence applications</a:t>
            </a:r>
            <a:r>
              <a:rPr lang="en-IN" sz="2000" dirty="0">
                <a:latin typeface="Times New Roman" panose="02020603050405020304" pitchFamily="18" charset="0"/>
                <a:cs typeface="Times New Roman" panose="02020603050405020304" pitchFamily="18" charset="0"/>
              </a:rPr>
              <a:t> to generate reports and dashboards. The </a:t>
            </a:r>
            <a:r>
              <a:rPr lang="en-IN" sz="2000" b="1" dirty="0">
                <a:latin typeface="Times New Roman" panose="02020603050405020304" pitchFamily="18" charset="0"/>
                <a:cs typeface="Times New Roman" panose="02020603050405020304" pitchFamily="18" charset="0"/>
              </a:rPr>
              <a:t>cleaning, transformation, analysis, and visualization</a:t>
            </a:r>
            <a:r>
              <a:rPr lang="en-IN" sz="2000" dirty="0">
                <a:latin typeface="Times New Roman" panose="02020603050405020304" pitchFamily="18" charset="0"/>
                <a:cs typeface="Times New Roman" panose="02020603050405020304" pitchFamily="18" charset="0"/>
              </a:rPr>
              <a:t> activities may be performed as </a:t>
            </a:r>
            <a:r>
              <a:rPr lang="en-IN" sz="2000" b="1" dirty="0">
                <a:latin typeface="Times New Roman" panose="02020603050405020304" pitchFamily="18" charset="0"/>
                <a:cs typeface="Times New Roman" panose="02020603050405020304" pitchFamily="18" charset="0"/>
              </a:rPr>
              <a:t>separate processes rather than as a single integrated pipeline. </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CHALLENGES IN THE EXISTING SYSTEM:</a:t>
            </a:r>
          </a:p>
          <a:p>
            <a:pPr algn="just">
              <a:lnSpc>
                <a:spcPct val="100000"/>
              </a:lnSpc>
            </a:pPr>
            <a:r>
              <a:rPr lang="en-IN" sz="2000" b="1" dirty="0">
                <a:latin typeface="Times New Roman" panose="02020603050405020304" pitchFamily="18" charset="0"/>
                <a:cs typeface="Times New Roman" panose="02020603050405020304" pitchFamily="18" charset="0"/>
              </a:rPr>
              <a:t>Data Fragmentation </a:t>
            </a:r>
            <a:r>
              <a:rPr lang="en-IN" sz="2000" dirty="0">
                <a:latin typeface="Times New Roman" panose="02020603050405020304" pitchFamily="18" charset="0"/>
                <a:cs typeface="Times New Roman" panose="02020603050405020304" pitchFamily="18" charset="0"/>
              </a:rPr>
              <a:t>(Data is stored in different sources)</a:t>
            </a:r>
          </a:p>
          <a:p>
            <a:pPr algn="just">
              <a:lnSpc>
                <a:spcPct val="100000"/>
              </a:lnSpc>
            </a:pPr>
            <a:r>
              <a:rPr lang="en-IN" sz="2000" b="1" dirty="0">
                <a:latin typeface="Times New Roman" panose="02020603050405020304" pitchFamily="18" charset="0"/>
                <a:cs typeface="Times New Roman" panose="02020603050405020304" pitchFamily="18" charset="0"/>
              </a:rPr>
              <a:t>Manual Data Processing </a:t>
            </a:r>
            <a:r>
              <a:rPr lang="en-IN" sz="2000" dirty="0">
                <a:latin typeface="Times New Roman" panose="02020603050405020304" pitchFamily="18" charset="0"/>
                <a:cs typeface="Times New Roman" panose="02020603050405020304" pitchFamily="18" charset="0"/>
              </a:rPr>
              <a:t>(manually collected, cleaned, and combined before analysis) </a:t>
            </a:r>
          </a:p>
          <a:p>
            <a:pPr algn="just">
              <a:lnSpc>
                <a:spcPct val="100000"/>
              </a:lnSpc>
            </a:pPr>
            <a:r>
              <a:rPr lang="en-IN" sz="2000" b="1" dirty="0">
                <a:latin typeface="Times New Roman" panose="02020603050405020304" pitchFamily="18" charset="0"/>
                <a:cs typeface="Times New Roman" panose="02020603050405020304" pitchFamily="18" charset="0"/>
              </a:rPr>
              <a:t>Data – Quality Issues </a:t>
            </a:r>
            <a:r>
              <a:rPr lang="en-IN" sz="2000" dirty="0">
                <a:latin typeface="Times New Roman" panose="02020603050405020304" pitchFamily="18" charset="0"/>
                <a:cs typeface="Times New Roman" panose="02020603050405020304" pitchFamily="18" charset="0"/>
              </a:rPr>
              <a:t>(Missing, duplicate, inconsistent, or invalid data may affect analysis)</a:t>
            </a:r>
          </a:p>
          <a:p>
            <a:pPr algn="just">
              <a:lnSpc>
                <a:spcPct val="100000"/>
              </a:lnSpc>
            </a:pPr>
            <a:r>
              <a:rPr lang="en-IN" sz="2000"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Limited Automation </a:t>
            </a:r>
            <a:r>
              <a:rPr lang="en-IN" sz="2000" dirty="0">
                <a:latin typeface="Times New Roman" panose="02020603050405020304" pitchFamily="18" charset="0"/>
                <a:cs typeface="Times New Roman" panose="02020603050405020304" pitchFamily="18" charset="0"/>
              </a:rPr>
              <a:t>(Data refresh and processing may require manual execution) </a:t>
            </a:r>
          </a:p>
          <a:p>
            <a:pPr algn="just">
              <a:lnSpc>
                <a:spcPct val="100000"/>
              </a:lnSpc>
            </a:pPr>
            <a:r>
              <a:rPr lang="en-IN" sz="2000" b="1" dirty="0">
                <a:latin typeface="Times New Roman" panose="02020603050405020304" pitchFamily="18" charset="0"/>
                <a:cs typeface="Times New Roman" panose="02020603050405020304" pitchFamily="18" charset="0"/>
              </a:rPr>
              <a:t>⁠Limited Predictive Capability </a:t>
            </a:r>
            <a:r>
              <a:rPr lang="en-IN" sz="2000" dirty="0">
                <a:latin typeface="Times New Roman" panose="02020603050405020304" pitchFamily="18" charset="0"/>
                <a:cs typeface="Times New Roman" panose="02020603050405020304" pitchFamily="18" charset="0"/>
              </a:rPr>
              <a:t>(Traditional reporting mainly explains historical performance rather than future trends)</a:t>
            </a:r>
          </a:p>
        </p:txBody>
      </p:sp>
    </p:spTree>
    <p:extLst>
      <p:ext uri="{BB962C8B-B14F-4D97-AF65-F5344CB8AC3E}">
        <p14:creationId xmlns:p14="http://schemas.microsoft.com/office/powerpoint/2010/main" val="2068432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942342"/>
            <a:ext cx="12191999" cy="5915657"/>
          </a:xfrm>
        </p:spPr>
        <p:txBody>
          <a:bodyPr>
            <a:noAutofit/>
          </a:bodyPr>
          <a:lstStyle/>
          <a:p>
            <a:pPr algn="just"/>
            <a:r>
              <a:rPr lang="en-IN" sz="2000" dirty="0">
                <a:latin typeface="Times New Roman" panose="02020603050405020304" pitchFamily="18" charset="0"/>
                <a:cs typeface="Times New Roman" panose="02020603050405020304" pitchFamily="18" charset="0"/>
              </a:rPr>
              <a:t>The developing system for </a:t>
            </a:r>
            <a:r>
              <a:rPr lang="en-IN" sz="2000" b="1" dirty="0">
                <a:latin typeface="Times New Roman" panose="02020603050405020304" pitchFamily="18" charset="0"/>
                <a:cs typeface="Times New Roman" panose="02020603050405020304" pitchFamily="18" charset="0"/>
              </a:rPr>
              <a:t>E – Commerce Data Pipeline &amp; Analytics Platform</a:t>
            </a:r>
            <a:r>
              <a:rPr lang="en-IN" sz="2000" dirty="0">
                <a:latin typeface="Times New Roman" panose="02020603050405020304" pitchFamily="18" charset="0"/>
                <a:cs typeface="Times New Roman" panose="02020603050405020304" pitchFamily="18" charset="0"/>
              </a:rPr>
              <a:t> is an interactive </a:t>
            </a:r>
            <a:r>
              <a:rPr lang="en-IN" sz="2000" b="1" dirty="0">
                <a:latin typeface="Times New Roman" panose="02020603050405020304" pitchFamily="18" charset="0"/>
                <a:cs typeface="Times New Roman" panose="02020603050405020304" pitchFamily="18" charset="0"/>
              </a:rPr>
              <a:t>web – based analytics system </a:t>
            </a:r>
            <a:r>
              <a:rPr lang="en-IN" sz="2000" dirty="0">
                <a:latin typeface="Times New Roman" panose="02020603050405020304" pitchFamily="18" charset="0"/>
                <a:cs typeface="Times New Roman" panose="02020603050405020304" pitchFamily="18" charset="0"/>
              </a:rPr>
              <a:t>designed to automate the complete journey of e – commerce data from raw input to business insights. The system accepts e – commerce data from multiple structured sources such as customer, product, order, order – item, payment, seller, and review datasets. </a:t>
            </a:r>
          </a:p>
          <a:p>
            <a:pPr algn="just"/>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Python – Based ETL (Extract, Transform, Load) pipeline</a:t>
            </a:r>
            <a:r>
              <a:rPr lang="en-IN" sz="2000" dirty="0">
                <a:latin typeface="Times New Roman" panose="02020603050405020304" pitchFamily="18" charset="0"/>
                <a:cs typeface="Times New Roman" panose="02020603050405020304" pitchFamily="18" charset="0"/>
              </a:rPr>
              <a:t> extracts the </a:t>
            </a:r>
            <a:r>
              <a:rPr lang="en-IN" sz="2000" b="1" dirty="0">
                <a:latin typeface="Times New Roman" panose="02020603050405020304" pitchFamily="18" charset="0"/>
                <a:cs typeface="Times New Roman" panose="02020603050405020304" pitchFamily="18" charset="0"/>
              </a:rPr>
              <a:t>raw data, cleans and transforms it </a:t>
            </a:r>
            <a:r>
              <a:rPr lang="en-IN" sz="2000" dirty="0">
                <a:latin typeface="Times New Roman" panose="02020603050405020304" pitchFamily="18" charset="0"/>
                <a:cs typeface="Times New Roman" panose="02020603050405020304" pitchFamily="18" charset="0"/>
              </a:rPr>
              <a:t>and  performs data – quality validation, and loads the processed data into a centralized </a:t>
            </a:r>
            <a:r>
              <a:rPr lang="en-IN" sz="2000" b="1" dirty="0">
                <a:latin typeface="Times New Roman" panose="02020603050405020304" pitchFamily="18" charset="0"/>
                <a:cs typeface="Times New Roman" panose="02020603050405020304" pitchFamily="18" charset="0"/>
              </a:rPr>
              <a:t>PostgreSQL database</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Streamlit – Based Web Platform</a:t>
            </a:r>
            <a:r>
              <a:rPr lang="en-IN" sz="2000" dirty="0">
                <a:latin typeface="Times New Roman" panose="02020603050405020304" pitchFamily="18" charset="0"/>
                <a:cs typeface="Times New Roman" panose="02020603050405020304" pitchFamily="18" charset="0"/>
              </a:rPr>
              <a:t> provides an interactive interface through which users can access dashboards and analytics.</a:t>
            </a:r>
          </a:p>
          <a:p>
            <a:pPr algn="just"/>
            <a:r>
              <a:rPr lang="en-IN" sz="2000" dirty="0">
                <a:latin typeface="Times New Roman" panose="02020603050405020304" pitchFamily="18" charset="0"/>
                <a:cs typeface="Times New Roman" panose="02020603050405020304" pitchFamily="18" charset="0"/>
              </a:rPr>
              <a:t>Further</a:t>
            </a:r>
            <a:r>
              <a:rPr lang="en-IN" sz="2000" b="1" dirty="0">
                <a:latin typeface="Times New Roman" panose="02020603050405020304" pitchFamily="18" charset="0"/>
                <a:cs typeface="Times New Roman" panose="02020603050405020304" pitchFamily="18" charset="0"/>
              </a:rPr>
              <a:t> Machine – Learning Sales Forecasting Module</a:t>
            </a:r>
            <a:r>
              <a:rPr lang="en-IN" sz="2000" dirty="0">
                <a:latin typeface="Times New Roman" panose="02020603050405020304" pitchFamily="18" charset="0"/>
                <a:cs typeface="Times New Roman" panose="02020603050405020304" pitchFamily="18" charset="0"/>
              </a:rPr>
              <a:t> can be used for historical sales data to predict future sales and trends. Also, </a:t>
            </a:r>
            <a:r>
              <a:rPr lang="en-IN" sz="2000" b="1" dirty="0">
                <a:latin typeface="Times New Roman" panose="02020603050405020304" pitchFamily="18" charset="0"/>
                <a:cs typeface="Times New Roman" panose="02020603050405020304" pitchFamily="18" charset="0"/>
              </a:rPr>
              <a:t>AI Agent </a:t>
            </a:r>
            <a:r>
              <a:rPr lang="en-IN" sz="2000" dirty="0">
                <a:latin typeface="Times New Roman" panose="02020603050405020304" pitchFamily="18" charset="0"/>
                <a:cs typeface="Times New Roman" panose="02020603050405020304" pitchFamily="18" charset="0"/>
              </a:rPr>
              <a:t>can be proposed for web platform for </a:t>
            </a:r>
            <a:r>
              <a:rPr lang="en-IN" sz="2000" b="1" dirty="0">
                <a:latin typeface="Times New Roman" panose="02020603050405020304" pitchFamily="18" charset="0"/>
                <a:cs typeface="Times New Roman" panose="02020603050405020304" pitchFamily="18" charset="0"/>
              </a:rPr>
              <a:t>easy and user – friendly environment.</a:t>
            </a:r>
          </a:p>
          <a:p>
            <a:pPr marL="0" indent="0" algn="just">
              <a:buNone/>
            </a:pPr>
            <a:r>
              <a:rPr lang="en-IN" sz="2000" b="1" dirty="0">
                <a:latin typeface="Times New Roman" panose="02020603050405020304" pitchFamily="18" charset="0"/>
                <a:cs typeface="Times New Roman" panose="02020603050405020304" pitchFamily="18" charset="0"/>
              </a:rPr>
              <a:t>ADVANTAGES OF THE PROPOSED SYSTEM:</a:t>
            </a:r>
          </a:p>
          <a:p>
            <a:pPr algn="just"/>
            <a:r>
              <a:rPr lang="en-IN" sz="2000" b="1" dirty="0">
                <a:latin typeface="Times New Roman" panose="02020603050405020304" pitchFamily="18" charset="0"/>
                <a:cs typeface="Times New Roman" panose="02020603050405020304" pitchFamily="18" charset="0"/>
              </a:rPr>
              <a:t>Centralized Data Management </a:t>
            </a:r>
            <a:r>
              <a:rPr lang="en-IN" sz="2000" dirty="0">
                <a:latin typeface="Times New Roman" panose="02020603050405020304" pitchFamily="18" charset="0"/>
                <a:cs typeface="Times New Roman" panose="02020603050405020304" pitchFamily="18" charset="0"/>
              </a:rPr>
              <a:t>(PostgreSQL)</a:t>
            </a:r>
          </a:p>
          <a:p>
            <a:pPr algn="just"/>
            <a:r>
              <a:rPr lang="en-IN" sz="2000" b="1" dirty="0">
                <a:latin typeface="Times New Roman" panose="02020603050405020304" pitchFamily="18" charset="0"/>
                <a:cs typeface="Times New Roman" panose="02020603050405020304" pitchFamily="18" charset="0"/>
              </a:rPr>
              <a:t>Improved Data Quality </a:t>
            </a:r>
            <a:r>
              <a:rPr lang="en-IN" sz="2000" dirty="0">
                <a:latin typeface="Times New Roman" panose="02020603050405020304" pitchFamily="18" charset="0"/>
                <a:cs typeface="Times New Roman" panose="02020603050405020304" pitchFamily="18" charset="0"/>
              </a:rPr>
              <a:t>(handles missing values, duplicates, inconsistent formats, and invalid records before analysis)</a:t>
            </a:r>
          </a:p>
          <a:p>
            <a:pPr algn="just"/>
            <a:r>
              <a:rPr lang="en-IN" sz="2000" b="1" dirty="0">
                <a:latin typeface="Times New Roman" panose="02020603050405020304" pitchFamily="18" charset="0"/>
                <a:cs typeface="Times New Roman" panose="02020603050405020304" pitchFamily="18" charset="0"/>
              </a:rPr>
              <a:t>Interactive Dashboard </a:t>
            </a:r>
            <a:r>
              <a:rPr lang="en-IN" sz="2000" dirty="0">
                <a:latin typeface="Times New Roman" panose="02020603050405020304" pitchFamily="18" charset="0"/>
                <a:cs typeface="Times New Roman" panose="02020603050405020304" pitchFamily="18" charset="0"/>
              </a:rPr>
              <a:t>(an interactive Streamlit – based interface) / Power BI</a:t>
            </a:r>
          </a:p>
          <a:p>
            <a:pPr algn="just"/>
            <a:r>
              <a:rPr lang="en-IN" sz="2000" b="1" dirty="0">
                <a:latin typeface="Times New Roman" panose="02020603050405020304" pitchFamily="18" charset="0"/>
                <a:cs typeface="Times New Roman" panose="02020603050405020304" pitchFamily="18" charset="0"/>
              </a:rPr>
              <a:t>Predictive Analytics </a:t>
            </a:r>
            <a:r>
              <a:rPr lang="en-IN" sz="2000" dirty="0">
                <a:latin typeface="Times New Roman" panose="02020603050405020304" pitchFamily="18" charset="0"/>
                <a:cs typeface="Times New Roman" panose="02020603050405020304" pitchFamily="18" charset="0"/>
              </a:rPr>
              <a:t>(machine – learning techniques)</a:t>
            </a:r>
          </a:p>
          <a:p>
            <a:pPr algn="just">
              <a:buFont typeface="Wingdings"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89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8149-DD70-C417-99DC-BA7CC839C3DF}"/>
              </a:ext>
            </a:extLst>
          </p:cNvPr>
          <p:cNvSpPr>
            <a:spLocks noGrp="1"/>
          </p:cNvSpPr>
          <p:nvPr>
            <p:ph type="title"/>
          </p:nvPr>
        </p:nvSpPr>
        <p:spPr>
          <a:xfrm>
            <a:off x="0" y="0"/>
            <a:ext cx="121920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ARCHITECTURAL DESIGN FOR PROPOSED SYSTEM</a:t>
            </a:r>
          </a:p>
        </p:txBody>
      </p:sp>
      <p:pic>
        <p:nvPicPr>
          <p:cNvPr id="6" name="Picture 5">
            <a:extLst>
              <a:ext uri="{FF2B5EF4-FFF2-40B4-BE49-F238E27FC236}">
                <a16:creationId xmlns:a16="http://schemas.microsoft.com/office/drawing/2014/main" id="{B7A4DB1A-455D-2837-ACFA-C927AD600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0410" y="1325563"/>
            <a:ext cx="6651180" cy="5426075"/>
          </a:xfrm>
          <a:prstGeom prst="rect">
            <a:avLst/>
          </a:prstGeom>
        </p:spPr>
      </p:pic>
    </p:spTree>
    <p:extLst>
      <p:ext uri="{BB962C8B-B14F-4D97-AF65-F5344CB8AC3E}">
        <p14:creationId xmlns:p14="http://schemas.microsoft.com/office/powerpoint/2010/main" val="1601722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E908-2DA8-6E74-B96D-965547A66223}"/>
              </a:ext>
            </a:extLst>
          </p:cNvPr>
          <p:cNvSpPr>
            <a:spLocks noGrp="1"/>
          </p:cNvSpPr>
          <p:nvPr>
            <p:ph type="title"/>
          </p:nvPr>
        </p:nvSpPr>
        <p:spPr>
          <a:xfrm>
            <a:off x="0" y="0"/>
            <a:ext cx="121920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ER DIAGRAM / FLOW DIAGRAM / USE CASE DIAGRAM</a:t>
            </a:r>
          </a:p>
        </p:txBody>
      </p:sp>
      <p:pic>
        <p:nvPicPr>
          <p:cNvPr id="6" name="Picture 5">
            <a:extLst>
              <a:ext uri="{FF2B5EF4-FFF2-40B4-BE49-F238E27FC236}">
                <a16:creationId xmlns:a16="http://schemas.microsoft.com/office/drawing/2014/main" id="{ADAF4AD0-1F53-461C-57A6-1EBCC6DA2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1249" y="1325562"/>
            <a:ext cx="3938676" cy="5095115"/>
          </a:xfrm>
          <a:prstGeom prst="rect">
            <a:avLst/>
          </a:prstGeom>
        </p:spPr>
      </p:pic>
      <p:pic>
        <p:nvPicPr>
          <p:cNvPr id="8" name="Picture 7">
            <a:extLst>
              <a:ext uri="{FF2B5EF4-FFF2-40B4-BE49-F238E27FC236}">
                <a16:creationId xmlns:a16="http://schemas.microsoft.com/office/drawing/2014/main" id="{A437D624-7316-D93F-D443-B80037113B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1211" y="1325561"/>
            <a:ext cx="3229503" cy="5095115"/>
          </a:xfrm>
          <a:prstGeom prst="rect">
            <a:avLst/>
          </a:prstGeom>
        </p:spPr>
      </p:pic>
      <p:pic>
        <p:nvPicPr>
          <p:cNvPr id="10" name="Picture 9">
            <a:extLst>
              <a:ext uri="{FF2B5EF4-FFF2-40B4-BE49-F238E27FC236}">
                <a16:creationId xmlns:a16="http://schemas.microsoft.com/office/drawing/2014/main" id="{90374F51-59E8-C2DF-9EAC-EE1392C46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286" y="1325562"/>
            <a:ext cx="3938677" cy="5095115"/>
          </a:xfrm>
          <a:prstGeom prst="rect">
            <a:avLst/>
          </a:prstGeom>
        </p:spPr>
      </p:pic>
      <p:sp>
        <p:nvSpPr>
          <p:cNvPr id="11" name="TextBox 10">
            <a:extLst>
              <a:ext uri="{FF2B5EF4-FFF2-40B4-BE49-F238E27FC236}">
                <a16:creationId xmlns:a16="http://schemas.microsoft.com/office/drawing/2014/main" id="{216F6B6D-A334-0025-8EA1-98890BD5FDAE}"/>
              </a:ext>
            </a:extLst>
          </p:cNvPr>
          <p:cNvSpPr txBox="1"/>
          <p:nvPr/>
        </p:nvSpPr>
        <p:spPr>
          <a:xfrm>
            <a:off x="1382057" y="6420676"/>
            <a:ext cx="171713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ER DIAGRAM</a:t>
            </a:r>
          </a:p>
        </p:txBody>
      </p:sp>
      <p:sp>
        <p:nvSpPr>
          <p:cNvPr id="13" name="TextBox 12">
            <a:extLst>
              <a:ext uri="{FF2B5EF4-FFF2-40B4-BE49-F238E27FC236}">
                <a16:creationId xmlns:a16="http://schemas.microsoft.com/office/drawing/2014/main" id="{5C0A4D2C-B02B-FE23-ED14-2CED845FC232}"/>
              </a:ext>
            </a:extLst>
          </p:cNvPr>
          <p:cNvSpPr txBox="1"/>
          <p:nvPr/>
        </p:nvSpPr>
        <p:spPr>
          <a:xfrm>
            <a:off x="5047155" y="6420676"/>
            <a:ext cx="209769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FLOW DIAGRAM</a:t>
            </a:r>
          </a:p>
        </p:txBody>
      </p:sp>
      <p:sp>
        <p:nvSpPr>
          <p:cNvPr id="14" name="TextBox 13">
            <a:extLst>
              <a:ext uri="{FF2B5EF4-FFF2-40B4-BE49-F238E27FC236}">
                <a16:creationId xmlns:a16="http://schemas.microsoft.com/office/drawing/2014/main" id="{3D9618C3-1A2B-F944-EE33-07B129EE5520}"/>
              </a:ext>
            </a:extLst>
          </p:cNvPr>
          <p:cNvSpPr txBox="1"/>
          <p:nvPr/>
        </p:nvSpPr>
        <p:spPr>
          <a:xfrm>
            <a:off x="9092806" y="6420676"/>
            <a:ext cx="251863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3152808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E82D1-D19C-3E2C-2156-D1110A479D69}"/>
              </a:ext>
            </a:extLst>
          </p:cNvPr>
          <p:cNvSpPr>
            <a:spLocks noGrp="1"/>
          </p:cNvSpPr>
          <p:nvPr>
            <p:ph type="title"/>
          </p:nvPr>
        </p:nvSpPr>
        <p:spPr>
          <a:xfrm>
            <a:off x="0" y="0"/>
            <a:ext cx="121920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ALGORITHMS USED WITH COMPLEXITY</a:t>
            </a:r>
          </a:p>
        </p:txBody>
      </p:sp>
      <p:graphicFrame>
        <p:nvGraphicFramePr>
          <p:cNvPr id="7" name="Table 6">
            <a:extLst>
              <a:ext uri="{FF2B5EF4-FFF2-40B4-BE49-F238E27FC236}">
                <a16:creationId xmlns:a16="http://schemas.microsoft.com/office/drawing/2014/main" id="{F1893D35-0E1E-944A-D045-D4F62D9FED1E}"/>
              </a:ext>
            </a:extLst>
          </p:cNvPr>
          <p:cNvGraphicFramePr>
            <a:graphicFrameLocks noGrp="1"/>
          </p:cNvGraphicFramePr>
          <p:nvPr>
            <p:extLst>
              <p:ext uri="{D42A27DB-BD31-4B8C-83A1-F6EECF244321}">
                <p14:modId xmlns:p14="http://schemas.microsoft.com/office/powerpoint/2010/main" val="3789400999"/>
              </p:ext>
            </p:extLst>
          </p:nvPr>
        </p:nvGraphicFramePr>
        <p:xfrm>
          <a:off x="512196" y="1075496"/>
          <a:ext cx="5583804" cy="5443127"/>
        </p:xfrm>
        <a:graphic>
          <a:graphicData uri="http://schemas.openxmlformats.org/drawingml/2006/table">
            <a:tbl>
              <a:tblPr firstRow="1" bandRow="1">
                <a:tableStyleId>{073A0DAA-6AF3-43AB-8588-CEC1D06C72B9}</a:tableStyleId>
              </a:tblPr>
              <a:tblGrid>
                <a:gridCol w="1861268">
                  <a:extLst>
                    <a:ext uri="{9D8B030D-6E8A-4147-A177-3AD203B41FA5}">
                      <a16:colId xmlns:a16="http://schemas.microsoft.com/office/drawing/2014/main" val="1969724135"/>
                    </a:ext>
                  </a:extLst>
                </a:gridCol>
                <a:gridCol w="1861268">
                  <a:extLst>
                    <a:ext uri="{9D8B030D-6E8A-4147-A177-3AD203B41FA5}">
                      <a16:colId xmlns:a16="http://schemas.microsoft.com/office/drawing/2014/main" val="3319036153"/>
                    </a:ext>
                  </a:extLst>
                </a:gridCol>
                <a:gridCol w="1861268">
                  <a:extLst>
                    <a:ext uri="{9D8B030D-6E8A-4147-A177-3AD203B41FA5}">
                      <a16:colId xmlns:a16="http://schemas.microsoft.com/office/drawing/2014/main" val="4015256694"/>
                    </a:ext>
                  </a:extLst>
                </a:gridCol>
              </a:tblGrid>
              <a:tr h="7653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ALGORITHM</a:t>
                      </a:r>
                    </a:p>
                    <a:p>
                      <a:pPr algn="ctr"/>
                      <a:endParaRPr lang="en-US" sz="16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TIME COMPLEXITY</a:t>
                      </a:r>
                    </a:p>
                    <a:p>
                      <a:pPr algn="ctr"/>
                      <a:endParaRPr lang="en-US"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SPACE COMPLEXITY</a:t>
                      </a:r>
                    </a:p>
                  </a:txBody>
                  <a:tcPr/>
                </a:tc>
                <a:extLst>
                  <a:ext uri="{0D108BD9-81ED-4DB2-BD59-A6C34878D82A}">
                    <a16:rowId xmlns:a16="http://schemas.microsoft.com/office/drawing/2014/main" val="2625592913"/>
                  </a:ext>
                </a:extLst>
              </a:tr>
              <a:tr h="596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DATA CLEANING ALGORITHM</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buNone/>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30260167"/>
                  </a:ext>
                </a:extLst>
              </a:tr>
              <a:tr h="7708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DATA VALIDATION ALGORITHM</a:t>
                      </a:r>
                      <a:endParaRPr lang="en-US" sz="16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996494"/>
                  </a:ext>
                </a:extLst>
              </a:tr>
              <a:tr h="9885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DATA INTEGRATION ALGORITHM</a:t>
                      </a:r>
                      <a:endParaRPr lang="en-US" sz="16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IN" sz="1600" b="1" dirty="0">
                          <a:latin typeface="Times New Roman" panose="02020603050405020304" pitchFamily="18" charset="0"/>
                          <a:cs typeface="Times New Roman" panose="02020603050405020304" pitchFamily="18" charset="0"/>
                        </a:rPr>
                        <a:t>O (N + M) Average</a:t>
                      </a: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 O (N</a:t>
                      </a:r>
                      <a:r>
                        <a:rPr lang="en-US" sz="1600" b="1" baseline="0" dirty="0">
                          <a:latin typeface="Times New Roman" panose="02020603050405020304" pitchFamily="18" charset="0"/>
                          <a:cs typeface="Times New Roman" panose="02020603050405020304" pitchFamily="18" charset="0"/>
                        </a:rPr>
                        <a:t> + M)</a:t>
                      </a:r>
                      <a:endParaRPr lang="en-US"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3966033"/>
                  </a:ext>
                </a:extLst>
              </a:tr>
              <a:tr h="596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ETL ALGORITHM</a:t>
                      </a:r>
                      <a:endParaRPr lang="en-US" sz="16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O (NC)</a:t>
                      </a:r>
                      <a:endParaRPr lang="en-IN" sz="1600" b="1" i="0"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4940780"/>
                  </a:ext>
                </a:extLst>
              </a:tr>
              <a:tr h="9885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DATA AGGREGATION ALGORITHM</a:t>
                      </a:r>
                      <a:endParaRPr lang="en-US" sz="16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O (N) Average</a:t>
                      </a:r>
                    </a:p>
                  </a:txBody>
                  <a:tcPr/>
                </a:tc>
                <a:tc>
                  <a:txBody>
                    <a:bodyPr/>
                    <a:lstStyle/>
                    <a:p>
                      <a:pPr algn="ctr"/>
                      <a:r>
                        <a:rPr lang="en-US" sz="1600" b="1" dirty="0">
                          <a:latin typeface="Times New Roman" panose="02020603050405020304" pitchFamily="18" charset="0"/>
                          <a:cs typeface="Times New Roman" panose="02020603050405020304" pitchFamily="18" charset="0"/>
                        </a:rPr>
                        <a:t>O (G)</a:t>
                      </a:r>
                    </a:p>
                  </a:txBody>
                  <a:tcPr/>
                </a:tc>
                <a:extLst>
                  <a:ext uri="{0D108BD9-81ED-4DB2-BD59-A6C34878D82A}">
                    <a16:rowId xmlns:a16="http://schemas.microsoft.com/office/drawing/2014/main" val="3104211584"/>
                  </a:ext>
                </a:extLst>
              </a:tr>
            </a:tbl>
          </a:graphicData>
        </a:graphic>
      </p:graphicFrame>
      <p:sp>
        <p:nvSpPr>
          <p:cNvPr id="3" name="TextBox 2">
            <a:extLst>
              <a:ext uri="{FF2B5EF4-FFF2-40B4-BE49-F238E27FC236}">
                <a16:creationId xmlns:a16="http://schemas.microsoft.com/office/drawing/2014/main" id="{525FC99E-9B25-7E2B-D09C-AF17396D4289}"/>
              </a:ext>
            </a:extLst>
          </p:cNvPr>
          <p:cNvSpPr txBox="1"/>
          <p:nvPr/>
        </p:nvSpPr>
        <p:spPr>
          <a:xfrm>
            <a:off x="6458778" y="2197893"/>
            <a:ext cx="5370443" cy="2462213"/>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N </a:t>
            </a:r>
            <a:r>
              <a:rPr lang="en-IN" sz="1400" dirty="0">
                <a:latin typeface="Times New Roman" panose="02020603050405020304" pitchFamily="18" charset="0"/>
                <a:cs typeface="Times New Roman" panose="02020603050405020304" pitchFamily="18" charset="0"/>
              </a:rPr>
              <a:t>= Number Of Records In The Primary Dataset</a:t>
            </a:r>
          </a:p>
          <a:p>
            <a:r>
              <a:rPr lang="en-IN" sz="1400" b="1" dirty="0">
                <a:latin typeface="Times New Roman" panose="02020603050405020304" pitchFamily="18" charset="0"/>
                <a:cs typeface="Times New Roman" panose="02020603050405020304" pitchFamily="18" charset="0"/>
              </a:rPr>
              <a:t>C</a:t>
            </a:r>
            <a:r>
              <a:rPr lang="en-IN" sz="1400" dirty="0">
                <a:latin typeface="Times New Roman" panose="02020603050405020304" pitchFamily="18" charset="0"/>
                <a:cs typeface="Times New Roman" panose="02020603050405020304" pitchFamily="18" charset="0"/>
              </a:rPr>
              <a:t> = Number Of Columns</a:t>
            </a:r>
          </a:p>
          <a:p>
            <a:r>
              <a:rPr lang="en-IN" sz="1400" b="1" dirty="0">
                <a:latin typeface="Times New Roman" panose="02020603050405020304" pitchFamily="18" charset="0"/>
                <a:cs typeface="Times New Roman" panose="02020603050405020304" pitchFamily="18" charset="0"/>
              </a:rPr>
              <a:t>M</a:t>
            </a:r>
            <a:r>
              <a:rPr lang="en-IN" sz="1400" dirty="0">
                <a:latin typeface="Times New Roman" panose="02020603050405020304" pitchFamily="18" charset="0"/>
                <a:cs typeface="Times New Roman" panose="02020603050405020304" pitchFamily="18" charset="0"/>
              </a:rPr>
              <a:t> = Number Of Records In The Second Dataset Being Joined</a:t>
            </a:r>
          </a:p>
          <a:p>
            <a:r>
              <a:rPr lang="en-IN" sz="1400" b="1" dirty="0">
                <a:latin typeface="Times New Roman" panose="02020603050405020304" pitchFamily="18" charset="0"/>
                <a:cs typeface="Times New Roman" panose="02020603050405020304" pitchFamily="18" charset="0"/>
              </a:rPr>
              <a:t>G</a:t>
            </a:r>
            <a:r>
              <a:rPr lang="en-IN" sz="1400" dirty="0">
                <a:latin typeface="Times New Roman" panose="02020603050405020304" pitchFamily="18" charset="0"/>
                <a:cs typeface="Times New Roman" panose="02020603050405020304" pitchFamily="18" charset="0"/>
              </a:rPr>
              <a:t> = Number Of Groups Produced By Aggregation, Such As Product Categories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Estimated Values:</a:t>
            </a:r>
          </a:p>
          <a:p>
            <a:r>
              <a:rPr lang="en-IN" sz="1400" b="1" dirty="0">
                <a:latin typeface="Times New Roman" panose="02020603050405020304" pitchFamily="18" charset="0"/>
                <a:cs typeface="Times New Roman" panose="02020603050405020304" pitchFamily="18" charset="0"/>
              </a:rPr>
              <a:t>N</a:t>
            </a:r>
            <a:r>
              <a:rPr lang="en-IN" sz="1400" dirty="0">
                <a:latin typeface="Times New Roman" panose="02020603050405020304" pitchFamily="18" charset="0"/>
                <a:cs typeface="Times New Roman" panose="02020603050405020304" pitchFamily="18" charset="0"/>
              </a:rPr>
              <a:t> = 2857</a:t>
            </a:r>
          </a:p>
          <a:p>
            <a:r>
              <a:rPr lang="en-US" sz="1400" b="1" dirty="0">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 = 21</a:t>
            </a:r>
          </a:p>
          <a:p>
            <a:r>
              <a:rPr lang="en-US" sz="1400" b="1" dirty="0">
                <a:latin typeface="Times New Roman" panose="02020603050405020304" pitchFamily="18" charset="0"/>
                <a:cs typeface="Times New Roman" panose="02020603050405020304" pitchFamily="18" charset="0"/>
              </a:rPr>
              <a:t>M</a:t>
            </a:r>
            <a:r>
              <a:rPr lang="en-US" sz="1400" dirty="0">
                <a:latin typeface="Times New Roman" panose="02020603050405020304" pitchFamily="18" charset="0"/>
                <a:cs typeface="Times New Roman" panose="02020603050405020304" pitchFamily="18" charset="0"/>
              </a:rPr>
              <a:t> = 44</a:t>
            </a:r>
          </a:p>
          <a:p>
            <a:r>
              <a:rPr lang="en-US" sz="1400" b="1" dirty="0">
                <a:latin typeface="Times New Roman" panose="02020603050405020304" pitchFamily="18" charset="0"/>
                <a:cs typeface="Times New Roman" panose="02020603050405020304" pitchFamily="18" charset="0"/>
              </a:rPr>
              <a:t>G</a:t>
            </a:r>
            <a:r>
              <a:rPr lang="en-US" sz="1400" dirty="0">
                <a:latin typeface="Times New Roman" panose="02020603050405020304" pitchFamily="18" charset="0"/>
                <a:cs typeface="Times New Roman" panose="02020603050405020304" pitchFamily="18" charset="0"/>
              </a:rPr>
              <a:t> = After Implementing The ETL Workflow</a:t>
            </a:r>
          </a:p>
        </p:txBody>
      </p:sp>
    </p:spTree>
    <p:extLst>
      <p:ext uri="{BB962C8B-B14F-4D97-AF65-F5344CB8AC3E}">
        <p14:creationId xmlns:p14="http://schemas.microsoft.com/office/powerpoint/2010/main" val="228173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DDA8-29FE-90D2-1867-272916530F85}"/>
              </a:ext>
            </a:extLst>
          </p:cNvPr>
          <p:cNvSpPr>
            <a:spLocks noGrp="1"/>
          </p:cNvSpPr>
          <p:nvPr>
            <p:ph type="title"/>
          </p:nvPr>
        </p:nvSpPr>
        <p:spPr>
          <a:xfrm>
            <a:off x="0" y="0"/>
            <a:ext cx="121920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EXPECTED OUTCOMES</a:t>
            </a:r>
          </a:p>
        </p:txBody>
      </p:sp>
      <p:pic>
        <p:nvPicPr>
          <p:cNvPr id="10" name="Picture 9">
            <a:extLst>
              <a:ext uri="{FF2B5EF4-FFF2-40B4-BE49-F238E27FC236}">
                <a16:creationId xmlns:a16="http://schemas.microsoft.com/office/drawing/2014/main" id="{7BEB4CAC-7F35-6371-1008-E83D7BB39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395" y="990373"/>
            <a:ext cx="9721210" cy="5440907"/>
          </a:xfrm>
          <a:prstGeom prst="rect">
            <a:avLst/>
          </a:prstGeom>
        </p:spPr>
      </p:pic>
    </p:spTree>
    <p:extLst>
      <p:ext uri="{BB962C8B-B14F-4D97-AF65-F5344CB8AC3E}">
        <p14:creationId xmlns:p14="http://schemas.microsoft.com/office/powerpoint/2010/main" val="253138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5F8973-95C6-2957-EA2B-BCB24283A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95" y="1573347"/>
            <a:ext cx="5608885" cy="3711305"/>
          </a:xfrm>
          <a:prstGeom prst="rect">
            <a:avLst/>
          </a:prstGeom>
        </p:spPr>
      </p:pic>
      <p:pic>
        <p:nvPicPr>
          <p:cNvPr id="6" name="Picture 5">
            <a:extLst>
              <a:ext uri="{FF2B5EF4-FFF2-40B4-BE49-F238E27FC236}">
                <a16:creationId xmlns:a16="http://schemas.microsoft.com/office/drawing/2014/main" id="{35B8B8C7-00F2-5469-9D0E-E74A3A0BA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7920" y="1573347"/>
            <a:ext cx="5608885" cy="3711304"/>
          </a:xfrm>
          <a:prstGeom prst="rect">
            <a:avLst/>
          </a:prstGeom>
        </p:spPr>
      </p:pic>
    </p:spTree>
    <p:extLst>
      <p:ext uri="{BB962C8B-B14F-4D97-AF65-F5344CB8AC3E}">
        <p14:creationId xmlns:p14="http://schemas.microsoft.com/office/powerpoint/2010/main" val="3063255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650CF5-2E3C-4239-D10E-9CED8518C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34" y="1397846"/>
            <a:ext cx="5592926" cy="3468794"/>
          </a:xfrm>
          <a:prstGeom prst="rect">
            <a:avLst/>
          </a:prstGeom>
        </p:spPr>
      </p:pic>
      <p:pic>
        <p:nvPicPr>
          <p:cNvPr id="6" name="Picture 5">
            <a:extLst>
              <a:ext uri="{FF2B5EF4-FFF2-40B4-BE49-F238E27FC236}">
                <a16:creationId xmlns:a16="http://schemas.microsoft.com/office/drawing/2014/main" id="{A5F1A335-D7BD-06C7-BB48-3F07BAD355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397846"/>
            <a:ext cx="5836766" cy="3468794"/>
          </a:xfrm>
          <a:prstGeom prst="rect">
            <a:avLst/>
          </a:prstGeom>
        </p:spPr>
      </p:pic>
    </p:spTree>
    <p:extLst>
      <p:ext uri="{BB962C8B-B14F-4D97-AF65-F5344CB8AC3E}">
        <p14:creationId xmlns:p14="http://schemas.microsoft.com/office/powerpoint/2010/main" val="763238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8B6B7-707F-DF35-DBC3-55B17957B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B64E3-B1A5-1E8B-60F8-1A4654F7CFDD}"/>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8CF1567-1951-52C3-0153-D7F7BB091DDA}"/>
              </a:ext>
            </a:extLst>
          </p:cNvPr>
          <p:cNvSpPr>
            <a:spLocks noGrp="1"/>
          </p:cNvSpPr>
          <p:nvPr>
            <p:ph idx="1"/>
          </p:nvPr>
        </p:nvSpPr>
        <p:spPr>
          <a:xfrm>
            <a:off x="0" y="942342"/>
            <a:ext cx="12191999" cy="5915657"/>
          </a:xfrm>
        </p:spPr>
        <p:txBody>
          <a:bodyPr>
            <a:normAutofit lnSpcReduction="10000"/>
          </a:bodyPr>
          <a:lstStyle/>
          <a:p>
            <a:pPr algn="just">
              <a:lnSpc>
                <a:spcPct val="110000"/>
              </a:lnSpc>
            </a:pPr>
            <a:r>
              <a:rPr lang="en-IN" sz="2000" b="1" dirty="0">
                <a:latin typeface="Times New Roman" panose="02020603050405020304" pitchFamily="18" charset="0"/>
                <a:cs typeface="Times New Roman" panose="02020603050405020304" pitchFamily="18" charset="0"/>
              </a:rPr>
              <a:t>M. K. Mahesha, S. B. Sagar, T. Tejonidhi, Y. N. Yashwanth, and A. V., </a:t>
            </a:r>
            <a:r>
              <a:rPr lang="en-IN" sz="2000" dirty="0">
                <a:latin typeface="Times New Roman" panose="02020603050405020304" pitchFamily="18" charset="0"/>
                <a:cs typeface="Times New Roman" panose="02020603050405020304" pitchFamily="18" charset="0"/>
              </a:rPr>
              <a:t>“A review on real-time data pipelines for e-commerce transactional data analytics,” EPRA International Journal of Research &amp; Development, vol. 10, no. 8, Aug. 2025.</a:t>
            </a:r>
          </a:p>
          <a:p>
            <a:pPr algn="just">
              <a:lnSpc>
                <a:spcPct val="110000"/>
              </a:lnSpc>
            </a:pPr>
            <a:r>
              <a:rPr lang="en-IN" sz="2000" b="1" dirty="0">
                <a:latin typeface="Times New Roman" panose="02020603050405020304" pitchFamily="18" charset="0"/>
                <a:cs typeface="Times New Roman" panose="02020603050405020304" pitchFamily="18" charset="0"/>
              </a:rPr>
              <a:t>L. M. Policarpo, D. E. da Silveira, R. da Rosa Righi, R. A. Stoffel, C. A. da Costa, J. L. V. Barbosa, R. Scorsatto, and T. Arcot, </a:t>
            </a:r>
            <a:r>
              <a:rPr lang="en-IN" sz="2000" dirty="0">
                <a:latin typeface="Times New Roman" panose="02020603050405020304" pitchFamily="18" charset="0"/>
                <a:cs typeface="Times New Roman" panose="02020603050405020304" pitchFamily="18" charset="0"/>
              </a:rPr>
              <a:t>“Machine learning through the lens of e-commerce initiatives: An up-to-date systematic literature review,” Computer Science Review, vol. 41, art. no. 100414, Aug. 2021.</a:t>
            </a:r>
          </a:p>
          <a:p>
            <a:pPr algn="just">
              <a:lnSpc>
                <a:spcPct val="110000"/>
              </a:lnSpc>
            </a:pPr>
            <a:r>
              <a:rPr lang="en-IN" sz="2000" b="1" dirty="0">
                <a:latin typeface="Times New Roman" panose="02020603050405020304" pitchFamily="18" charset="0"/>
                <a:cs typeface="Times New Roman" panose="02020603050405020304" pitchFamily="18" charset="0"/>
              </a:rPr>
              <a:t>Gamboa-Cruzado, T. Mosqueira-Cerda, A. Torre Camones, R. Quispe Mendoza, A. F. Navarro Raymundo, J. Jiménez García, and B. C. López-Ramírez, </a:t>
            </a:r>
            <a:r>
              <a:rPr lang="en-IN" sz="2000" dirty="0">
                <a:latin typeface="Times New Roman" panose="02020603050405020304" pitchFamily="18" charset="0"/>
                <a:cs typeface="Times New Roman" panose="02020603050405020304" pitchFamily="18" charset="0"/>
              </a:rPr>
              <a:t>“Exploring the influence of machine learning in e-Commerce: A systematic and bibliometric review,” Computación y Sistemas, vol. 29, no. 2, pp. 925–953, 2025.</a:t>
            </a:r>
          </a:p>
          <a:p>
            <a:pPr algn="just">
              <a:lnSpc>
                <a:spcPct val="110000"/>
              </a:lnSpc>
            </a:pPr>
            <a:r>
              <a:rPr lang="en-IN" sz="2000" b="1" dirty="0">
                <a:latin typeface="Times New Roman" panose="02020603050405020304" pitchFamily="18" charset="0"/>
                <a:cs typeface="Times New Roman" panose="02020603050405020304" pitchFamily="18" charset="0"/>
              </a:rPr>
              <a:t>X. Hu, </a:t>
            </a:r>
            <a:r>
              <a:rPr lang="en-IN" sz="2000" dirty="0">
                <a:latin typeface="Times New Roman" panose="02020603050405020304" pitchFamily="18" charset="0"/>
                <a:cs typeface="Times New Roman" panose="02020603050405020304" pitchFamily="18" charset="0"/>
              </a:rPr>
              <a:t>“A data warehouse/online analytic processing framework for web usage mining and business intelligence reporting,” International Journal of Intelligent Systems, vol. 19, no. 7, pp. 585–606, 2004.</a:t>
            </a:r>
          </a:p>
          <a:p>
            <a:pPr algn="just">
              <a:lnSpc>
                <a:spcPct val="110000"/>
              </a:lnSpc>
            </a:pPr>
            <a:r>
              <a:rPr lang="en-IN" sz="2000" b="1" dirty="0">
                <a:latin typeface="Times New Roman" panose="02020603050405020304" pitchFamily="18" charset="0"/>
                <a:cs typeface="Times New Roman" panose="02020603050405020304" pitchFamily="18" charset="0"/>
              </a:rPr>
              <a:t>M. N. Prakoso and Nuryuliani, </a:t>
            </a:r>
            <a:r>
              <a:rPr lang="en-IN" sz="2000" dirty="0">
                <a:latin typeface="Times New Roman" panose="02020603050405020304" pitchFamily="18" charset="0"/>
                <a:cs typeface="Times New Roman" panose="02020603050405020304" pitchFamily="18" charset="0"/>
              </a:rPr>
              <a:t>“Application development of e-commerce business intelligence dashboard,” International Journal of Computer Sciences and Engineering, vol. 7, no. 8, 2019.</a:t>
            </a:r>
          </a:p>
          <a:p>
            <a:pPr algn="just">
              <a:lnSpc>
                <a:spcPct val="110000"/>
              </a:lnSpc>
            </a:pPr>
            <a:r>
              <a:rPr lang="en-IN" sz="2000" b="1" dirty="0">
                <a:latin typeface="Times New Roman" panose="02020603050405020304" pitchFamily="18" charset="0"/>
                <a:cs typeface="Times New Roman" panose="02020603050405020304" pitchFamily="18" charset="0"/>
              </a:rPr>
              <a:t>P. Hutabalian, </a:t>
            </a:r>
            <a:r>
              <a:rPr lang="en-IN" sz="2000" dirty="0">
                <a:latin typeface="Times New Roman" panose="02020603050405020304" pitchFamily="18" charset="0"/>
                <a:cs typeface="Times New Roman" panose="02020603050405020304" pitchFamily="18" charset="0"/>
              </a:rPr>
              <a:t>“Implementasi Pipeline ETL/ELT dan Model Dimensional untuk Analisis Penjualan Shopee Menggunakan PostgreSQL, Docker, dan Apache Superset,” Jurnal Informatika dan Teknik Elektro Terapan, vol. 13, no. 3S1, 2025.</a:t>
            </a:r>
          </a:p>
        </p:txBody>
      </p:sp>
    </p:spTree>
    <p:extLst>
      <p:ext uri="{BB962C8B-B14F-4D97-AF65-F5344CB8AC3E}">
        <p14:creationId xmlns:p14="http://schemas.microsoft.com/office/powerpoint/2010/main" val="405736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50E6-733E-392A-4443-2377C2233194}"/>
              </a:ext>
            </a:extLst>
          </p:cNvPr>
          <p:cNvSpPr>
            <a:spLocks noGrp="1"/>
          </p:cNvSpPr>
          <p:nvPr>
            <p:ph type="title"/>
          </p:nvPr>
        </p:nvSpPr>
        <p:spPr>
          <a:xfrm>
            <a:off x="0" y="20320"/>
            <a:ext cx="121920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30% CODE IMPLEMENTATION</a:t>
            </a:r>
          </a:p>
        </p:txBody>
      </p:sp>
      <p:pic>
        <p:nvPicPr>
          <p:cNvPr id="7" name="Picture 6">
            <a:extLst>
              <a:ext uri="{FF2B5EF4-FFF2-40B4-BE49-F238E27FC236}">
                <a16:creationId xmlns:a16="http://schemas.microsoft.com/office/drawing/2014/main" id="{AF3CF5BF-39D8-8E54-A794-1F78D371A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794971"/>
            <a:ext cx="5811520" cy="3569509"/>
          </a:xfrm>
          <a:prstGeom prst="rect">
            <a:avLst/>
          </a:prstGeom>
        </p:spPr>
      </p:pic>
      <p:pic>
        <p:nvPicPr>
          <p:cNvPr id="9" name="Picture 8">
            <a:extLst>
              <a:ext uri="{FF2B5EF4-FFF2-40B4-BE49-F238E27FC236}">
                <a16:creationId xmlns:a16="http://schemas.microsoft.com/office/drawing/2014/main" id="{409B4C67-420E-EC3D-6827-DAE704677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94970"/>
            <a:ext cx="5811520" cy="3569509"/>
          </a:xfrm>
          <a:prstGeom prst="rect">
            <a:avLst/>
          </a:prstGeom>
        </p:spPr>
      </p:pic>
    </p:spTree>
    <p:extLst>
      <p:ext uri="{BB962C8B-B14F-4D97-AF65-F5344CB8AC3E}">
        <p14:creationId xmlns:p14="http://schemas.microsoft.com/office/powerpoint/2010/main" val="2152322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648B3B-2425-A5AD-C17F-525435D9B8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348" y="1718803"/>
            <a:ext cx="5803231" cy="3420394"/>
          </a:xfrm>
          <a:prstGeom prst="rect">
            <a:avLst/>
          </a:prstGeom>
        </p:spPr>
      </p:pic>
      <p:pic>
        <p:nvPicPr>
          <p:cNvPr id="7" name="Picture 6">
            <a:extLst>
              <a:ext uri="{FF2B5EF4-FFF2-40B4-BE49-F238E27FC236}">
                <a16:creationId xmlns:a16="http://schemas.microsoft.com/office/drawing/2014/main" id="{376C82F0-EB8E-AC93-1D16-525CA3728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421" y="1718803"/>
            <a:ext cx="5803231" cy="3420394"/>
          </a:xfrm>
          <a:prstGeom prst="rect">
            <a:avLst/>
          </a:prstGeom>
        </p:spPr>
      </p:pic>
    </p:spTree>
    <p:extLst>
      <p:ext uri="{BB962C8B-B14F-4D97-AF65-F5344CB8AC3E}">
        <p14:creationId xmlns:p14="http://schemas.microsoft.com/office/powerpoint/2010/main" val="3018195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874A-AE06-A1F8-8EB2-A809A9481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84" y="1714145"/>
            <a:ext cx="5843337" cy="3429710"/>
          </a:xfrm>
          <a:prstGeom prst="rect">
            <a:avLst/>
          </a:prstGeom>
        </p:spPr>
      </p:pic>
      <p:pic>
        <p:nvPicPr>
          <p:cNvPr id="7" name="Picture 6">
            <a:extLst>
              <a:ext uri="{FF2B5EF4-FFF2-40B4-BE49-F238E27FC236}">
                <a16:creationId xmlns:a16="http://schemas.microsoft.com/office/drawing/2014/main" id="{1D9246D9-FF25-FCCF-FF46-59102B2F3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14145"/>
            <a:ext cx="5843337" cy="3429710"/>
          </a:xfrm>
          <a:prstGeom prst="rect">
            <a:avLst/>
          </a:prstGeom>
        </p:spPr>
      </p:pic>
    </p:spTree>
    <p:extLst>
      <p:ext uri="{BB962C8B-B14F-4D97-AF65-F5344CB8AC3E}">
        <p14:creationId xmlns:p14="http://schemas.microsoft.com/office/powerpoint/2010/main" val="23400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6338</TotalTime>
  <Words>1246</Words>
  <Application>Microsoft Macintosh PowerPoint</Application>
  <PresentationFormat>Widescreen</PresentationFormat>
  <Paragraphs>90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OUTLINE </vt:lpstr>
      <vt:lpstr>ABSTRACT</vt:lpstr>
      <vt:lpstr>EXISTING SYSTEM</vt:lpstr>
      <vt:lpstr>PROPOSED SYSTEM</vt:lpstr>
      <vt:lpstr>ARCHITECTURAL DESIGN FOR PROPOSED SYSTEM</vt:lpstr>
      <vt:lpstr>ER DIAGRAM / FLOW DIAGRAM / USE CASE DIAGRAM</vt:lpstr>
      <vt:lpstr>ALGORITHMS USED WITH COMPLEXITY</vt:lpstr>
      <vt:lpstr>EXPECTED OUTCOMES</vt:lpstr>
      <vt:lpstr>PowerPoint Presentation</vt:lpstr>
      <vt:lpstr>PowerPoint Presentation</vt:lpstr>
      <vt:lpstr>REFERENCES</vt:lpstr>
      <vt:lpstr>30% CODE IMPLEMENTATION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KOLACHINA SREE AKHIL</cp:lastModifiedBy>
  <cp:revision>99</cp:revision>
  <dcterms:created xsi:type="dcterms:W3CDTF">2021-05-18T14:01:25Z</dcterms:created>
  <dcterms:modified xsi:type="dcterms:W3CDTF">2026-10-27T08:23:50Z</dcterms:modified>
</cp:coreProperties>
</file>