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779" r:id="rId2"/>
    <p:sldId id="789" r:id="rId3"/>
    <p:sldId id="780" r:id="rId4"/>
    <p:sldId id="782" r:id="rId5"/>
    <p:sldId id="783" r:id="rId6"/>
    <p:sldId id="784" r:id="rId7"/>
    <p:sldId id="795" r:id="rId8"/>
    <p:sldId id="786" r:id="rId9"/>
    <p:sldId id="796" r:id="rId10"/>
    <p:sldId id="788"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1887" autoAdjust="0"/>
    <p:restoredTop sz="94660"/>
  </p:normalViewPr>
  <p:slideViewPr>
    <p:cSldViewPr snapToGrid="0">
      <p:cViewPr>
        <p:scale>
          <a:sx n="130" d="100"/>
          <a:sy n="130" d="100"/>
        </p:scale>
        <p:origin x="504" y="51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4F1D50-B6A2-4019-9617-B0BA6E91FF9B}" type="datetimeFigureOut">
              <a:rPr lang="en-IN" smtClean="0"/>
              <a:pPr/>
              <a:t>25/08/26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760D06-E71C-4CF6-B4AC-B8B6AF0BE466}" type="slidenum">
              <a:rPr lang="en-IN" smtClean="0"/>
              <a:pPr/>
              <a:t>‹#›</a:t>
            </a:fld>
            <a:endParaRPr lang="en-IN"/>
          </a:p>
        </p:txBody>
      </p:sp>
    </p:spTree>
    <p:extLst>
      <p:ext uri="{BB962C8B-B14F-4D97-AF65-F5344CB8AC3E}">
        <p14:creationId xmlns:p14="http://schemas.microsoft.com/office/powerpoint/2010/main" val="17198493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32439-1400-4871-A1E8-C7474D4478E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893264D-B01A-4290-A82E-7727F4A1319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B8C1F4C-564C-456D-BF72-8037A3716569}"/>
              </a:ext>
            </a:extLst>
          </p:cNvPr>
          <p:cNvSpPr>
            <a:spLocks noGrp="1"/>
          </p:cNvSpPr>
          <p:nvPr>
            <p:ph type="dt" sz="half" idx="10"/>
          </p:nvPr>
        </p:nvSpPr>
        <p:spPr/>
        <p:txBody>
          <a:bodyPr/>
          <a:lstStyle/>
          <a:p>
            <a:fld id="{37BC200F-3AD5-488B-A90C-E22EC162B81D}" type="datetime1">
              <a:rPr lang="en-IN" smtClean="0"/>
              <a:pPr/>
              <a:t>25/08/26</a:t>
            </a:fld>
            <a:endParaRPr lang="en-IN"/>
          </a:p>
        </p:txBody>
      </p:sp>
      <p:sp>
        <p:nvSpPr>
          <p:cNvPr id="5" name="Footer Placeholder 4">
            <a:extLst>
              <a:ext uri="{FF2B5EF4-FFF2-40B4-BE49-F238E27FC236}">
                <a16:creationId xmlns:a16="http://schemas.microsoft.com/office/drawing/2014/main" id="{709C422B-5E07-4115-9932-3FA2E7B0815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820577A-0E47-4E38-A660-FC0D76D7267E}"/>
              </a:ext>
            </a:extLst>
          </p:cNvPr>
          <p:cNvSpPr>
            <a:spLocks noGrp="1"/>
          </p:cNvSpPr>
          <p:nvPr>
            <p:ph type="sldNum" sz="quarter" idx="12"/>
          </p:nvPr>
        </p:nvSpPr>
        <p:spPr/>
        <p:txBody>
          <a:bodyPr/>
          <a:lstStyle/>
          <a:p>
            <a:fld id="{A0183BA4-7B10-4BE3-A0B2-A48721054ED6}" type="slidenum">
              <a:rPr lang="en-IN" smtClean="0"/>
              <a:pPr/>
              <a:t>‹#›</a:t>
            </a:fld>
            <a:endParaRPr lang="en-IN"/>
          </a:p>
        </p:txBody>
      </p:sp>
    </p:spTree>
    <p:extLst>
      <p:ext uri="{BB962C8B-B14F-4D97-AF65-F5344CB8AC3E}">
        <p14:creationId xmlns:p14="http://schemas.microsoft.com/office/powerpoint/2010/main" val="3001170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FC8F7-1408-4E03-9E4D-89F36571F3D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CECEAC2-EDD9-4A1B-8E30-3AB3CE54F25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5F494BC-2B5F-4933-96F3-C02C7484979E}"/>
              </a:ext>
            </a:extLst>
          </p:cNvPr>
          <p:cNvSpPr>
            <a:spLocks noGrp="1"/>
          </p:cNvSpPr>
          <p:nvPr>
            <p:ph type="dt" sz="half" idx="10"/>
          </p:nvPr>
        </p:nvSpPr>
        <p:spPr/>
        <p:txBody>
          <a:bodyPr/>
          <a:lstStyle/>
          <a:p>
            <a:fld id="{784BDB05-E2D4-4D29-8882-DE25842599A2}" type="datetime1">
              <a:rPr lang="en-IN" smtClean="0"/>
              <a:pPr/>
              <a:t>25/08/26</a:t>
            </a:fld>
            <a:endParaRPr lang="en-IN"/>
          </a:p>
        </p:txBody>
      </p:sp>
      <p:sp>
        <p:nvSpPr>
          <p:cNvPr id="5" name="Footer Placeholder 4">
            <a:extLst>
              <a:ext uri="{FF2B5EF4-FFF2-40B4-BE49-F238E27FC236}">
                <a16:creationId xmlns:a16="http://schemas.microsoft.com/office/drawing/2014/main" id="{F6E7B0BB-7BCF-4959-B22F-283F7527CC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257FB52-389D-429A-827B-5EA4CA2499C7}"/>
              </a:ext>
            </a:extLst>
          </p:cNvPr>
          <p:cNvSpPr>
            <a:spLocks noGrp="1"/>
          </p:cNvSpPr>
          <p:nvPr>
            <p:ph type="sldNum" sz="quarter" idx="12"/>
          </p:nvPr>
        </p:nvSpPr>
        <p:spPr/>
        <p:txBody>
          <a:bodyPr/>
          <a:lstStyle/>
          <a:p>
            <a:fld id="{A0183BA4-7B10-4BE3-A0B2-A48721054ED6}" type="slidenum">
              <a:rPr lang="en-IN" smtClean="0"/>
              <a:pPr/>
              <a:t>‹#›</a:t>
            </a:fld>
            <a:endParaRPr lang="en-IN"/>
          </a:p>
        </p:txBody>
      </p:sp>
    </p:spTree>
    <p:extLst>
      <p:ext uri="{BB962C8B-B14F-4D97-AF65-F5344CB8AC3E}">
        <p14:creationId xmlns:p14="http://schemas.microsoft.com/office/powerpoint/2010/main" val="17894973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59E0A-F353-45A7-9D3D-4197FDEB584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D58B4B3-9A58-47AF-892D-7B145EFA2C1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3ACD6A9-D5B1-4AEF-BE15-B459414C082E}"/>
              </a:ext>
            </a:extLst>
          </p:cNvPr>
          <p:cNvSpPr>
            <a:spLocks noGrp="1"/>
          </p:cNvSpPr>
          <p:nvPr>
            <p:ph type="dt" sz="half" idx="10"/>
          </p:nvPr>
        </p:nvSpPr>
        <p:spPr/>
        <p:txBody>
          <a:bodyPr/>
          <a:lstStyle/>
          <a:p>
            <a:fld id="{A342B590-2B55-4604-B193-5B6D0EBB3818}" type="datetime1">
              <a:rPr lang="en-IN" smtClean="0"/>
              <a:pPr/>
              <a:t>25/08/26</a:t>
            </a:fld>
            <a:endParaRPr lang="en-IN"/>
          </a:p>
        </p:txBody>
      </p:sp>
      <p:sp>
        <p:nvSpPr>
          <p:cNvPr id="5" name="Footer Placeholder 4">
            <a:extLst>
              <a:ext uri="{FF2B5EF4-FFF2-40B4-BE49-F238E27FC236}">
                <a16:creationId xmlns:a16="http://schemas.microsoft.com/office/drawing/2014/main" id="{2B94FE73-2575-46E0-9292-2323027342B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19F333C-0E24-431D-8BEA-6EC3E032DC2E}"/>
              </a:ext>
            </a:extLst>
          </p:cNvPr>
          <p:cNvSpPr>
            <a:spLocks noGrp="1"/>
          </p:cNvSpPr>
          <p:nvPr>
            <p:ph type="sldNum" sz="quarter" idx="12"/>
          </p:nvPr>
        </p:nvSpPr>
        <p:spPr/>
        <p:txBody>
          <a:bodyPr/>
          <a:lstStyle/>
          <a:p>
            <a:fld id="{A0183BA4-7B10-4BE3-A0B2-A48721054ED6}" type="slidenum">
              <a:rPr lang="en-IN" smtClean="0"/>
              <a:pPr/>
              <a:t>‹#›</a:t>
            </a:fld>
            <a:endParaRPr lang="en-IN"/>
          </a:p>
        </p:txBody>
      </p:sp>
    </p:spTree>
    <p:extLst>
      <p:ext uri="{BB962C8B-B14F-4D97-AF65-F5344CB8AC3E}">
        <p14:creationId xmlns:p14="http://schemas.microsoft.com/office/powerpoint/2010/main" val="41050258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0DEF8-2B7E-4274-9CCB-70BD370F6D9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A9C7C84-E9A9-4607-92DC-EFE2B8EB71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991AD39-BC46-468D-AD9D-6C9C7A244F1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86748D0-6615-4EB1-8559-162BC9E6834F}"/>
              </a:ext>
            </a:extLst>
          </p:cNvPr>
          <p:cNvSpPr>
            <a:spLocks noGrp="1"/>
          </p:cNvSpPr>
          <p:nvPr>
            <p:ph type="dt" sz="half" idx="10"/>
          </p:nvPr>
        </p:nvSpPr>
        <p:spPr/>
        <p:txBody>
          <a:bodyPr/>
          <a:lstStyle/>
          <a:p>
            <a:fld id="{E455046D-FD36-421D-B0B6-CF2E6F2F7E01}" type="datetime1">
              <a:rPr lang="en-IN" smtClean="0"/>
              <a:pPr/>
              <a:t>25/08/26</a:t>
            </a:fld>
            <a:endParaRPr lang="en-IN"/>
          </a:p>
        </p:txBody>
      </p:sp>
      <p:sp>
        <p:nvSpPr>
          <p:cNvPr id="6" name="Footer Placeholder 5">
            <a:extLst>
              <a:ext uri="{FF2B5EF4-FFF2-40B4-BE49-F238E27FC236}">
                <a16:creationId xmlns:a16="http://schemas.microsoft.com/office/drawing/2014/main" id="{3611EDC9-53F7-46CE-9B1C-B999BCF2277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54FECE7-D4F8-4E13-B22B-3E69193E1484}"/>
              </a:ext>
            </a:extLst>
          </p:cNvPr>
          <p:cNvSpPr>
            <a:spLocks noGrp="1"/>
          </p:cNvSpPr>
          <p:nvPr>
            <p:ph type="sldNum" sz="quarter" idx="12"/>
          </p:nvPr>
        </p:nvSpPr>
        <p:spPr/>
        <p:txBody>
          <a:bodyPr/>
          <a:lstStyle/>
          <a:p>
            <a:fld id="{A0183BA4-7B10-4BE3-A0B2-A48721054ED6}" type="slidenum">
              <a:rPr lang="en-IN" smtClean="0"/>
              <a:pPr/>
              <a:t>‹#›</a:t>
            </a:fld>
            <a:endParaRPr lang="en-IN"/>
          </a:p>
        </p:txBody>
      </p:sp>
    </p:spTree>
    <p:extLst>
      <p:ext uri="{BB962C8B-B14F-4D97-AF65-F5344CB8AC3E}">
        <p14:creationId xmlns:p14="http://schemas.microsoft.com/office/powerpoint/2010/main" val="42334020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53E51-6FED-4252-AE8D-10E9ADE8E8F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E43A8CB-0EAC-4DFD-A825-F1A89E07E8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BB81793-EEE5-4B36-AB68-A56A3253E9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8B7E480-0365-40E1-BBF5-F594D108A01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0FEFA48-5012-4D51-B8C0-91BF319E948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4D1D2DF-7DFA-4CF0-BC4B-72FFBFAA4185}"/>
              </a:ext>
            </a:extLst>
          </p:cNvPr>
          <p:cNvSpPr>
            <a:spLocks noGrp="1"/>
          </p:cNvSpPr>
          <p:nvPr>
            <p:ph type="dt" sz="half" idx="10"/>
          </p:nvPr>
        </p:nvSpPr>
        <p:spPr/>
        <p:txBody>
          <a:bodyPr/>
          <a:lstStyle/>
          <a:p>
            <a:fld id="{66719C6A-C228-4666-85AF-BFCAEE8D9375}" type="datetime1">
              <a:rPr lang="en-IN" smtClean="0"/>
              <a:pPr/>
              <a:t>25/08/26</a:t>
            </a:fld>
            <a:endParaRPr lang="en-IN"/>
          </a:p>
        </p:txBody>
      </p:sp>
      <p:sp>
        <p:nvSpPr>
          <p:cNvPr id="8" name="Footer Placeholder 7">
            <a:extLst>
              <a:ext uri="{FF2B5EF4-FFF2-40B4-BE49-F238E27FC236}">
                <a16:creationId xmlns:a16="http://schemas.microsoft.com/office/drawing/2014/main" id="{60739B97-6D68-4A91-A511-2AE65BFA1E7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F6BD875-8D41-458D-8FE8-BE926E35D7F9}"/>
              </a:ext>
            </a:extLst>
          </p:cNvPr>
          <p:cNvSpPr>
            <a:spLocks noGrp="1"/>
          </p:cNvSpPr>
          <p:nvPr>
            <p:ph type="sldNum" sz="quarter" idx="12"/>
          </p:nvPr>
        </p:nvSpPr>
        <p:spPr/>
        <p:txBody>
          <a:bodyPr/>
          <a:lstStyle/>
          <a:p>
            <a:fld id="{A0183BA4-7B10-4BE3-A0B2-A48721054ED6}" type="slidenum">
              <a:rPr lang="en-IN" smtClean="0"/>
              <a:pPr/>
              <a:t>‹#›</a:t>
            </a:fld>
            <a:endParaRPr lang="en-IN"/>
          </a:p>
        </p:txBody>
      </p:sp>
    </p:spTree>
    <p:extLst>
      <p:ext uri="{BB962C8B-B14F-4D97-AF65-F5344CB8AC3E}">
        <p14:creationId xmlns:p14="http://schemas.microsoft.com/office/powerpoint/2010/main" val="20654750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06007-8559-4DDA-ADB5-24066989C95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C0EE19D-7F57-4B73-B755-C39F7A12E72F}"/>
              </a:ext>
            </a:extLst>
          </p:cNvPr>
          <p:cNvSpPr>
            <a:spLocks noGrp="1"/>
          </p:cNvSpPr>
          <p:nvPr>
            <p:ph type="dt" sz="half" idx="10"/>
          </p:nvPr>
        </p:nvSpPr>
        <p:spPr/>
        <p:txBody>
          <a:bodyPr/>
          <a:lstStyle/>
          <a:p>
            <a:fld id="{D1476AC4-8DFC-4A25-AB02-3BCD901770ED}" type="datetime1">
              <a:rPr lang="en-IN" smtClean="0"/>
              <a:pPr/>
              <a:t>25/08/26</a:t>
            </a:fld>
            <a:endParaRPr lang="en-IN"/>
          </a:p>
        </p:txBody>
      </p:sp>
      <p:sp>
        <p:nvSpPr>
          <p:cNvPr id="4" name="Footer Placeholder 3">
            <a:extLst>
              <a:ext uri="{FF2B5EF4-FFF2-40B4-BE49-F238E27FC236}">
                <a16:creationId xmlns:a16="http://schemas.microsoft.com/office/drawing/2014/main" id="{67AAA0DE-AFC5-477D-9E07-FD8BD826AAB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FB54AAA-3535-4C14-8166-FB6EACD31BDE}"/>
              </a:ext>
            </a:extLst>
          </p:cNvPr>
          <p:cNvSpPr>
            <a:spLocks noGrp="1"/>
          </p:cNvSpPr>
          <p:nvPr>
            <p:ph type="sldNum" sz="quarter" idx="12"/>
          </p:nvPr>
        </p:nvSpPr>
        <p:spPr/>
        <p:txBody>
          <a:bodyPr/>
          <a:lstStyle/>
          <a:p>
            <a:fld id="{A0183BA4-7B10-4BE3-A0B2-A48721054ED6}" type="slidenum">
              <a:rPr lang="en-IN" smtClean="0"/>
              <a:pPr/>
              <a:t>‹#›</a:t>
            </a:fld>
            <a:endParaRPr lang="en-IN"/>
          </a:p>
        </p:txBody>
      </p:sp>
    </p:spTree>
    <p:extLst>
      <p:ext uri="{BB962C8B-B14F-4D97-AF65-F5344CB8AC3E}">
        <p14:creationId xmlns:p14="http://schemas.microsoft.com/office/powerpoint/2010/main" val="7441096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7B6E093-DDDC-4C60-AEF1-EA4F544AD145}"/>
              </a:ext>
            </a:extLst>
          </p:cNvPr>
          <p:cNvSpPr>
            <a:spLocks noGrp="1"/>
          </p:cNvSpPr>
          <p:nvPr>
            <p:ph type="dt" sz="half" idx="10"/>
          </p:nvPr>
        </p:nvSpPr>
        <p:spPr/>
        <p:txBody>
          <a:bodyPr/>
          <a:lstStyle/>
          <a:p>
            <a:fld id="{A18A7FA7-F693-4DFB-AEDA-FE633EEC95AF}" type="datetime1">
              <a:rPr lang="en-IN" smtClean="0"/>
              <a:pPr/>
              <a:t>25/08/26</a:t>
            </a:fld>
            <a:endParaRPr lang="en-IN"/>
          </a:p>
        </p:txBody>
      </p:sp>
      <p:sp>
        <p:nvSpPr>
          <p:cNvPr id="3" name="Footer Placeholder 2">
            <a:extLst>
              <a:ext uri="{FF2B5EF4-FFF2-40B4-BE49-F238E27FC236}">
                <a16:creationId xmlns:a16="http://schemas.microsoft.com/office/drawing/2014/main" id="{4E0C2FED-4935-43BE-9345-59669AE0209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6524748-2BAB-49A8-95A7-B4AD77E46E74}"/>
              </a:ext>
            </a:extLst>
          </p:cNvPr>
          <p:cNvSpPr>
            <a:spLocks noGrp="1"/>
          </p:cNvSpPr>
          <p:nvPr>
            <p:ph type="sldNum" sz="quarter" idx="12"/>
          </p:nvPr>
        </p:nvSpPr>
        <p:spPr/>
        <p:txBody>
          <a:bodyPr/>
          <a:lstStyle/>
          <a:p>
            <a:fld id="{A0183BA4-7B10-4BE3-A0B2-A48721054ED6}" type="slidenum">
              <a:rPr lang="en-IN" smtClean="0"/>
              <a:pPr/>
              <a:t>‹#›</a:t>
            </a:fld>
            <a:endParaRPr lang="en-IN"/>
          </a:p>
        </p:txBody>
      </p:sp>
    </p:spTree>
    <p:extLst>
      <p:ext uri="{BB962C8B-B14F-4D97-AF65-F5344CB8AC3E}">
        <p14:creationId xmlns:p14="http://schemas.microsoft.com/office/powerpoint/2010/main" val="14916889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2EA04-776C-4163-B584-044C333D88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90C04F9-E6C0-4D16-8852-953534E200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072862F-7160-4A67-8704-C47A0C8797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1D65858-28DA-46E5-9508-74636F89DAE3}"/>
              </a:ext>
            </a:extLst>
          </p:cNvPr>
          <p:cNvSpPr>
            <a:spLocks noGrp="1"/>
          </p:cNvSpPr>
          <p:nvPr>
            <p:ph type="dt" sz="half" idx="10"/>
          </p:nvPr>
        </p:nvSpPr>
        <p:spPr/>
        <p:txBody>
          <a:bodyPr/>
          <a:lstStyle/>
          <a:p>
            <a:fld id="{43C56386-F633-4E6A-B8A1-EED31EF84510}" type="datetime1">
              <a:rPr lang="en-IN" smtClean="0"/>
              <a:pPr/>
              <a:t>25/08/26</a:t>
            </a:fld>
            <a:endParaRPr lang="en-IN"/>
          </a:p>
        </p:txBody>
      </p:sp>
      <p:sp>
        <p:nvSpPr>
          <p:cNvPr id="6" name="Footer Placeholder 5">
            <a:extLst>
              <a:ext uri="{FF2B5EF4-FFF2-40B4-BE49-F238E27FC236}">
                <a16:creationId xmlns:a16="http://schemas.microsoft.com/office/drawing/2014/main" id="{05517B50-2DD1-4DB8-B8B8-0BAE9C952DD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701DAEE-A292-4277-BDC0-0070E249CAB8}"/>
              </a:ext>
            </a:extLst>
          </p:cNvPr>
          <p:cNvSpPr>
            <a:spLocks noGrp="1"/>
          </p:cNvSpPr>
          <p:nvPr>
            <p:ph type="sldNum" sz="quarter" idx="12"/>
          </p:nvPr>
        </p:nvSpPr>
        <p:spPr/>
        <p:txBody>
          <a:bodyPr/>
          <a:lstStyle/>
          <a:p>
            <a:fld id="{A0183BA4-7B10-4BE3-A0B2-A48721054ED6}" type="slidenum">
              <a:rPr lang="en-IN" smtClean="0"/>
              <a:pPr/>
              <a:t>‹#›</a:t>
            </a:fld>
            <a:endParaRPr lang="en-IN"/>
          </a:p>
        </p:txBody>
      </p:sp>
    </p:spTree>
    <p:extLst>
      <p:ext uri="{BB962C8B-B14F-4D97-AF65-F5344CB8AC3E}">
        <p14:creationId xmlns:p14="http://schemas.microsoft.com/office/powerpoint/2010/main" val="31199772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C3873-316E-4899-8153-7086CCE4EE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7B67437-F6CB-4767-9B90-77B1BC10B15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731625E-C2D4-4EC5-8F44-FBF944F65F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5B6A3B-16DE-4E18-A332-29669A10B586}"/>
              </a:ext>
            </a:extLst>
          </p:cNvPr>
          <p:cNvSpPr>
            <a:spLocks noGrp="1"/>
          </p:cNvSpPr>
          <p:nvPr>
            <p:ph type="dt" sz="half" idx="10"/>
          </p:nvPr>
        </p:nvSpPr>
        <p:spPr/>
        <p:txBody>
          <a:bodyPr/>
          <a:lstStyle/>
          <a:p>
            <a:fld id="{56C880F4-BE75-409D-AF89-489FEC0B9E5F}" type="datetime1">
              <a:rPr lang="en-IN" smtClean="0"/>
              <a:pPr/>
              <a:t>25/08/26</a:t>
            </a:fld>
            <a:endParaRPr lang="en-IN"/>
          </a:p>
        </p:txBody>
      </p:sp>
      <p:sp>
        <p:nvSpPr>
          <p:cNvPr id="6" name="Footer Placeholder 5">
            <a:extLst>
              <a:ext uri="{FF2B5EF4-FFF2-40B4-BE49-F238E27FC236}">
                <a16:creationId xmlns:a16="http://schemas.microsoft.com/office/drawing/2014/main" id="{DE65B289-D318-4A9C-BD6D-C44A849296C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2EFA0E2-2C8D-4D74-B06E-178C555F194D}"/>
              </a:ext>
            </a:extLst>
          </p:cNvPr>
          <p:cNvSpPr>
            <a:spLocks noGrp="1"/>
          </p:cNvSpPr>
          <p:nvPr>
            <p:ph type="sldNum" sz="quarter" idx="12"/>
          </p:nvPr>
        </p:nvSpPr>
        <p:spPr/>
        <p:txBody>
          <a:bodyPr/>
          <a:lstStyle/>
          <a:p>
            <a:fld id="{A0183BA4-7B10-4BE3-A0B2-A48721054ED6}" type="slidenum">
              <a:rPr lang="en-IN" smtClean="0"/>
              <a:pPr/>
              <a:t>‹#›</a:t>
            </a:fld>
            <a:endParaRPr lang="en-IN"/>
          </a:p>
        </p:txBody>
      </p:sp>
    </p:spTree>
    <p:extLst>
      <p:ext uri="{BB962C8B-B14F-4D97-AF65-F5344CB8AC3E}">
        <p14:creationId xmlns:p14="http://schemas.microsoft.com/office/powerpoint/2010/main" val="24910041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190BA-7554-4D42-B48C-58DD0CF4395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0F3D475-FB0E-4B81-B116-9EF55A90474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1776E95-0183-4750-AF5B-7618B56938BC}"/>
              </a:ext>
            </a:extLst>
          </p:cNvPr>
          <p:cNvSpPr>
            <a:spLocks noGrp="1"/>
          </p:cNvSpPr>
          <p:nvPr>
            <p:ph type="dt" sz="half" idx="10"/>
          </p:nvPr>
        </p:nvSpPr>
        <p:spPr/>
        <p:txBody>
          <a:bodyPr/>
          <a:lstStyle/>
          <a:p>
            <a:fld id="{2039F6F4-037B-4332-9282-471FE71B5F7F}" type="datetime1">
              <a:rPr lang="en-IN" smtClean="0"/>
              <a:pPr/>
              <a:t>25/08/26</a:t>
            </a:fld>
            <a:endParaRPr lang="en-IN"/>
          </a:p>
        </p:txBody>
      </p:sp>
      <p:sp>
        <p:nvSpPr>
          <p:cNvPr id="5" name="Footer Placeholder 4">
            <a:extLst>
              <a:ext uri="{FF2B5EF4-FFF2-40B4-BE49-F238E27FC236}">
                <a16:creationId xmlns:a16="http://schemas.microsoft.com/office/drawing/2014/main" id="{C29E9BCE-0963-403B-9D25-E460EE59B66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C5EF912-9095-430D-8535-5BD3E4EF864C}"/>
              </a:ext>
            </a:extLst>
          </p:cNvPr>
          <p:cNvSpPr>
            <a:spLocks noGrp="1"/>
          </p:cNvSpPr>
          <p:nvPr>
            <p:ph type="sldNum" sz="quarter" idx="12"/>
          </p:nvPr>
        </p:nvSpPr>
        <p:spPr/>
        <p:txBody>
          <a:bodyPr/>
          <a:lstStyle/>
          <a:p>
            <a:fld id="{A0183BA4-7B10-4BE3-A0B2-A48721054ED6}" type="slidenum">
              <a:rPr lang="en-IN" smtClean="0"/>
              <a:pPr/>
              <a:t>‹#›</a:t>
            </a:fld>
            <a:endParaRPr lang="en-IN"/>
          </a:p>
        </p:txBody>
      </p:sp>
    </p:spTree>
    <p:extLst>
      <p:ext uri="{BB962C8B-B14F-4D97-AF65-F5344CB8AC3E}">
        <p14:creationId xmlns:p14="http://schemas.microsoft.com/office/powerpoint/2010/main" val="12386545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ACF8ED9-F70E-4EB1-8828-BC267D05C36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34D1639-EE11-4E0F-9935-5EE4029CBBF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03C24BC-5C21-463E-8224-EEBB474F4DAC}"/>
              </a:ext>
            </a:extLst>
          </p:cNvPr>
          <p:cNvSpPr>
            <a:spLocks noGrp="1"/>
          </p:cNvSpPr>
          <p:nvPr>
            <p:ph type="dt" sz="half" idx="10"/>
          </p:nvPr>
        </p:nvSpPr>
        <p:spPr/>
        <p:txBody>
          <a:bodyPr/>
          <a:lstStyle/>
          <a:p>
            <a:fld id="{5EDABC32-C334-4B49-A727-D2C2C2E2FFFE}" type="datetime1">
              <a:rPr lang="en-IN" smtClean="0"/>
              <a:pPr/>
              <a:t>25/08/26</a:t>
            </a:fld>
            <a:endParaRPr lang="en-IN"/>
          </a:p>
        </p:txBody>
      </p:sp>
      <p:sp>
        <p:nvSpPr>
          <p:cNvPr id="5" name="Footer Placeholder 4">
            <a:extLst>
              <a:ext uri="{FF2B5EF4-FFF2-40B4-BE49-F238E27FC236}">
                <a16:creationId xmlns:a16="http://schemas.microsoft.com/office/drawing/2014/main" id="{58817959-F41C-4265-B950-CE05B800FFD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2E3A482-8769-4E02-B46E-565987B03A21}"/>
              </a:ext>
            </a:extLst>
          </p:cNvPr>
          <p:cNvSpPr>
            <a:spLocks noGrp="1"/>
          </p:cNvSpPr>
          <p:nvPr>
            <p:ph type="sldNum" sz="quarter" idx="12"/>
          </p:nvPr>
        </p:nvSpPr>
        <p:spPr/>
        <p:txBody>
          <a:bodyPr/>
          <a:lstStyle/>
          <a:p>
            <a:fld id="{A0183BA4-7B10-4BE3-A0B2-A48721054ED6}" type="slidenum">
              <a:rPr lang="en-IN" smtClean="0"/>
              <a:pPr/>
              <a:t>‹#›</a:t>
            </a:fld>
            <a:endParaRPr lang="en-IN"/>
          </a:p>
        </p:txBody>
      </p:sp>
    </p:spTree>
    <p:extLst>
      <p:ext uri="{BB962C8B-B14F-4D97-AF65-F5344CB8AC3E}">
        <p14:creationId xmlns:p14="http://schemas.microsoft.com/office/powerpoint/2010/main" val="37639629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4167512-9A59-4F80-BDE3-E2EC90814A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19B3164-25AA-4E2F-9CBD-64DBB8BCEA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46E2F16-F4BC-4CDE-9BA1-3FF94AA15EF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D12017-EE5D-4064-B320-4434A6A5A13F}" type="datetime1">
              <a:rPr lang="en-IN" smtClean="0"/>
              <a:pPr/>
              <a:t>25/08/26</a:t>
            </a:fld>
            <a:endParaRPr lang="en-IN"/>
          </a:p>
        </p:txBody>
      </p:sp>
      <p:sp>
        <p:nvSpPr>
          <p:cNvPr id="5" name="Footer Placeholder 4">
            <a:extLst>
              <a:ext uri="{FF2B5EF4-FFF2-40B4-BE49-F238E27FC236}">
                <a16:creationId xmlns:a16="http://schemas.microsoft.com/office/drawing/2014/main" id="{37B6BA1D-C155-4BD7-98A4-5C4CD141FF4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DAFD399-70D5-46C3-AF05-F083473AF3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0183BA4-7B10-4BE3-A0B2-A48721054ED6}" type="slidenum">
              <a:rPr lang="en-IN" smtClean="0"/>
              <a:pPr/>
              <a:t>‹#›</a:t>
            </a:fld>
            <a:endParaRPr lang="en-IN"/>
          </a:p>
        </p:txBody>
      </p:sp>
    </p:spTree>
    <p:extLst>
      <p:ext uri="{BB962C8B-B14F-4D97-AF65-F5344CB8AC3E}">
        <p14:creationId xmlns:p14="http://schemas.microsoft.com/office/powerpoint/2010/main" val="28618785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image2.jpg">
            <a:extLst>
              <a:ext uri="{FF2B5EF4-FFF2-40B4-BE49-F238E27FC236}">
                <a16:creationId xmlns:a16="http://schemas.microsoft.com/office/drawing/2014/main" id="{663F759D-B900-42CE-B030-8F4D88C8D3C0}"/>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2386" y="0"/>
            <a:ext cx="2029613" cy="1632314"/>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34171B3D-41F2-4B45-860B-5E3607A31D49}"/>
              </a:ext>
            </a:extLst>
          </p:cNvPr>
          <p:cNvSpPr txBox="1"/>
          <p:nvPr/>
        </p:nvSpPr>
        <p:spPr>
          <a:xfrm>
            <a:off x="2398217" y="94410"/>
            <a:ext cx="7095897" cy="1454244"/>
          </a:xfrm>
          <a:prstGeom prst="rect">
            <a:avLst/>
          </a:prstGeom>
          <a:noFill/>
        </p:spPr>
        <p:txBody>
          <a:bodyPr wrap="square">
            <a:spAutoFit/>
          </a:bodyPr>
          <a:lstStyle/>
          <a:p>
            <a:pPr marR="16510" algn="ctr">
              <a:spcBef>
                <a:spcPts val="365"/>
              </a:spcBef>
              <a:spcAft>
                <a:spcPts val="250"/>
              </a:spcAft>
            </a:pPr>
            <a:r>
              <a:rPr lang="en-IN" sz="2800" b="1" dirty="0">
                <a:effectLst/>
                <a:latin typeface="Times New Roman" panose="02020603050405020304" pitchFamily="18" charset="0"/>
                <a:ea typeface="Times New Roman" panose="02020603050405020304" pitchFamily="18" charset="0"/>
                <a:cs typeface="Times New Roman" panose="02020603050405020304" pitchFamily="18" charset="0"/>
              </a:rPr>
              <a:t> St. MARTIN’S ENGINEERING COLLEGE</a:t>
            </a:r>
            <a:endParaRPr lang="en-IN" sz="2800" b="1"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0" marR="1085850" indent="-2540" algn="ctr">
              <a:spcBef>
                <a:spcPts val="240"/>
              </a:spcBef>
              <a:spcAft>
                <a:spcPts val="250"/>
              </a:spcAft>
            </a:pPr>
            <a:r>
              <a:rPr lang="en-IN" sz="1600" b="1" dirty="0">
                <a:latin typeface="Times New Roman" panose="02020603050405020304" pitchFamily="18" charset="0"/>
                <a:ea typeface="Times New Roman" panose="02020603050405020304" pitchFamily="18" charset="0"/>
                <a:cs typeface="Times New Roman" panose="02020603050405020304" pitchFamily="18" charset="0"/>
              </a:rPr>
              <a:t>      UGC Autonomous </a:t>
            </a:r>
          </a:p>
          <a:p>
            <a:pPr marL="1143000" marR="1085850" indent="-2540" algn="ctr">
              <a:spcBef>
                <a:spcPts val="240"/>
              </a:spcBef>
              <a:spcAft>
                <a:spcPts val="250"/>
              </a:spcAft>
            </a:pPr>
            <a:r>
              <a:rPr lang="en-IN" sz="1600" b="1" dirty="0">
                <a:latin typeface="Times New Roman" panose="02020603050405020304" pitchFamily="18" charset="0"/>
                <a:ea typeface="Times New Roman" panose="02020603050405020304" pitchFamily="18" charset="0"/>
                <a:cs typeface="Mangal" panose="02040503050203030202" pitchFamily="18" charset="0"/>
              </a:rPr>
              <a:t>NBA &amp; NAAC A+ ACCREDITED</a:t>
            </a:r>
            <a:endParaRPr lang="en-IN" sz="1600" b="1" dirty="0">
              <a:latin typeface="Calibri" panose="020F0502020204030204" pitchFamily="34" charset="0"/>
              <a:ea typeface="Calibri" panose="020F0502020204030204" pitchFamily="34" charset="0"/>
              <a:cs typeface="Mangal" panose="02040503050203030202" pitchFamily="18" charset="0"/>
            </a:endParaRPr>
          </a:p>
          <a:p>
            <a:pPr marL="1143000" marR="1085850" indent="-2540" algn="ctr">
              <a:spcBef>
                <a:spcPts val="240"/>
              </a:spcBef>
              <a:spcAft>
                <a:spcPts val="250"/>
              </a:spcAft>
            </a:pPr>
            <a:r>
              <a:rPr lang="en-IN" sz="1600" b="1" dirty="0">
                <a:effectLst/>
                <a:latin typeface="Times New Roman" panose="02020603050405020304" pitchFamily="18" charset="0"/>
                <a:ea typeface="Times New Roman" panose="02020603050405020304" pitchFamily="18" charset="0"/>
                <a:cs typeface="Times New Roman" panose="02020603050405020304" pitchFamily="18" charset="0"/>
              </a:rPr>
              <a:t>Dhulapally, </a:t>
            </a:r>
            <a:r>
              <a:rPr lang="en-IN" sz="1600" b="1" dirty="0" err="1">
                <a:effectLst/>
                <a:latin typeface="Times New Roman" panose="02020603050405020304" pitchFamily="18" charset="0"/>
                <a:ea typeface="Times New Roman" panose="02020603050405020304" pitchFamily="18" charset="0"/>
                <a:cs typeface="Times New Roman" panose="02020603050405020304" pitchFamily="18" charset="0"/>
              </a:rPr>
              <a:t>Secunderabad</a:t>
            </a:r>
            <a:r>
              <a:rPr lang="en-IN" sz="1600" b="1" dirty="0">
                <a:effectLst/>
                <a:latin typeface="Times New Roman" panose="02020603050405020304" pitchFamily="18" charset="0"/>
                <a:ea typeface="Times New Roman" panose="02020603050405020304" pitchFamily="18" charset="0"/>
                <a:cs typeface="Times New Roman" panose="02020603050405020304" pitchFamily="18" charset="0"/>
              </a:rPr>
              <a:t> – 500 100 </a:t>
            </a:r>
            <a:endParaRPr lang="en-IN" sz="1600" b="1"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4" name="Subtitle 2">
            <a:extLst>
              <a:ext uri="{FF2B5EF4-FFF2-40B4-BE49-F238E27FC236}">
                <a16:creationId xmlns:a16="http://schemas.microsoft.com/office/drawing/2014/main" id="{D76D3B75-5278-4020-9209-060C511363F8}"/>
              </a:ext>
            </a:extLst>
          </p:cNvPr>
          <p:cNvSpPr txBox="1">
            <a:spLocks/>
          </p:cNvSpPr>
          <p:nvPr/>
        </p:nvSpPr>
        <p:spPr>
          <a:xfrm>
            <a:off x="-1" y="2190941"/>
            <a:ext cx="12192000" cy="11005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en-US" sz="2100" b="1"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BBE8A074-7A92-49E2-B981-AE2FCEAEB324}"/>
              </a:ext>
            </a:extLst>
          </p:cNvPr>
          <p:cNvSpPr txBox="1"/>
          <p:nvPr/>
        </p:nvSpPr>
        <p:spPr>
          <a:xfrm>
            <a:off x="2891786" y="3339576"/>
            <a:ext cx="6408426" cy="1938992"/>
          </a:xfrm>
          <a:prstGeom prst="rect">
            <a:avLst/>
          </a:prstGeom>
          <a:noFill/>
        </p:spPr>
        <p:txBody>
          <a:bodyPr wrap="square" rtlCol="0">
            <a:spAutoFit/>
          </a:bodyPr>
          <a:lstStyle/>
          <a:p>
            <a:pPr algn="ctr"/>
            <a:r>
              <a:rPr lang="en-US" sz="2400" b="1" dirty="0">
                <a:latin typeface="Times New Roman" pitchFamily="18" charset="0"/>
                <a:cs typeface="Times New Roman" pitchFamily="18" charset="0"/>
              </a:rPr>
              <a:t>Batch No: 13</a:t>
            </a:r>
          </a:p>
          <a:p>
            <a:r>
              <a:rPr lang="en-US" sz="2400" b="1" dirty="0">
                <a:latin typeface="Times New Roman" pitchFamily="18" charset="0"/>
                <a:cs typeface="Times New Roman" pitchFamily="18" charset="0"/>
              </a:rPr>
              <a:t>1. M. Rajesh                                 (23K81A7296)</a:t>
            </a:r>
          </a:p>
          <a:p>
            <a:r>
              <a:rPr lang="en-US" sz="2400" b="1" dirty="0">
                <a:latin typeface="Times New Roman" pitchFamily="18" charset="0"/>
                <a:cs typeface="Times New Roman" pitchFamily="18" charset="0"/>
              </a:rPr>
              <a:t>2. K. Sree Akhil                            (23K81A7292)</a:t>
            </a:r>
          </a:p>
          <a:p>
            <a:r>
              <a:rPr lang="en-US" sz="2400" b="1" dirty="0">
                <a:latin typeface="Times New Roman" pitchFamily="18" charset="0"/>
                <a:cs typeface="Times New Roman" pitchFamily="18" charset="0"/>
              </a:rPr>
              <a:t>3. Ch. Ram Mahideep Varma     (23K81A7279)</a:t>
            </a:r>
          </a:p>
          <a:p>
            <a:pPr algn="ctr"/>
            <a:endParaRPr lang="en-US" sz="2400" b="1" dirty="0">
              <a:latin typeface="Times New Roman" pitchFamily="18" charset="0"/>
              <a:cs typeface="Times New Roman" pitchFamily="18" charset="0"/>
            </a:endParaRPr>
          </a:p>
        </p:txBody>
      </p:sp>
      <p:sp>
        <p:nvSpPr>
          <p:cNvPr id="16" name="TextBox 15">
            <a:extLst>
              <a:ext uri="{FF2B5EF4-FFF2-40B4-BE49-F238E27FC236}">
                <a16:creationId xmlns:a16="http://schemas.microsoft.com/office/drawing/2014/main" id="{814846BF-F4EE-4ADF-8E6D-318E4ACE8748}"/>
              </a:ext>
            </a:extLst>
          </p:cNvPr>
          <p:cNvSpPr txBox="1"/>
          <p:nvPr/>
        </p:nvSpPr>
        <p:spPr>
          <a:xfrm>
            <a:off x="-149835" y="5193930"/>
            <a:ext cx="12191999" cy="1569660"/>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Under the Guidance of</a:t>
            </a:r>
          </a:p>
          <a:p>
            <a:pPr algn="ctr"/>
            <a:r>
              <a:rPr lang="en-IN" sz="2400" b="1" dirty="0">
                <a:latin typeface="Times New Roman" panose="02020603050405020304" pitchFamily="18" charset="0"/>
                <a:cs typeface="Times New Roman" panose="02020603050405020304" pitchFamily="18" charset="0"/>
              </a:rPr>
              <a:t>Mr. M. Rajaram</a:t>
            </a:r>
            <a:endParaRPr lang="en-US" sz="2400" b="1" dirty="0">
              <a:latin typeface="Times New Roman" panose="02020603050405020304" pitchFamily="18" charset="0"/>
              <a:cs typeface="Times New Roman" panose="02020603050405020304" pitchFamily="18" charset="0"/>
            </a:endParaRPr>
          </a:p>
          <a:p>
            <a:pPr algn="ctr"/>
            <a:r>
              <a:rPr lang="en-US" sz="2400" b="1" dirty="0">
                <a:latin typeface="Times New Roman" panose="02020603050405020304" pitchFamily="18" charset="0"/>
                <a:cs typeface="Times New Roman" panose="02020603050405020304" pitchFamily="18" charset="0"/>
              </a:rPr>
              <a:t>Assistant Professor</a:t>
            </a:r>
          </a:p>
          <a:p>
            <a:pPr algn="ctr"/>
            <a:r>
              <a:rPr lang="en-US" sz="2400" b="1" dirty="0">
                <a:latin typeface="Times New Roman" panose="02020603050405020304" pitchFamily="18" charset="0"/>
                <a:cs typeface="Times New Roman" panose="02020603050405020304" pitchFamily="18" charset="0"/>
              </a:rPr>
              <a:t>Department of Artificial Intelligence &amp; Data Science (AI&amp;DS)</a:t>
            </a:r>
            <a:endParaRPr lang="en-IN" sz="2400" b="1" dirty="0">
              <a:latin typeface="Times New Roman" panose="02020603050405020304" pitchFamily="18" charset="0"/>
              <a:cs typeface="Times New Roman" panose="02020603050405020304" pitchFamily="18" charset="0"/>
            </a:endParaRPr>
          </a:p>
        </p:txBody>
      </p:sp>
      <p:pic>
        <p:nvPicPr>
          <p:cNvPr id="8" name="Picture 7"/>
          <p:cNvPicPr/>
          <p:nvPr/>
        </p:nvPicPr>
        <p:blipFill>
          <a:blip r:embed="rId3">
            <a:extLst>
              <a:ext uri="{28A0092B-C50C-407E-A947-70E740481C1C}">
                <a14:useLocalDpi xmlns:a14="http://schemas.microsoft.com/office/drawing/2010/main" val="0"/>
              </a:ext>
            </a:extLst>
          </a:blip>
          <a:srcRect/>
          <a:stretch>
            <a:fillRect/>
          </a:stretch>
        </p:blipFill>
        <p:spPr bwMode="auto">
          <a:xfrm>
            <a:off x="269034" y="94410"/>
            <a:ext cx="1460912" cy="1240120"/>
          </a:xfrm>
          <a:prstGeom prst="rect">
            <a:avLst/>
          </a:prstGeom>
          <a:noFill/>
        </p:spPr>
      </p:pic>
      <p:sp>
        <p:nvSpPr>
          <p:cNvPr id="2" name="TextBox 1"/>
          <p:cNvSpPr txBox="1"/>
          <p:nvPr/>
        </p:nvSpPr>
        <p:spPr>
          <a:xfrm>
            <a:off x="1" y="1653947"/>
            <a:ext cx="12191998" cy="461665"/>
          </a:xfrm>
          <a:prstGeom prst="rect">
            <a:avLst/>
          </a:prstGeom>
          <a:noFill/>
        </p:spPr>
        <p:txBody>
          <a:bodyPr wrap="square" rtlCol="0">
            <a:spAutoFit/>
          </a:bodyPr>
          <a:lstStyle/>
          <a:p>
            <a:pPr algn="ctr"/>
            <a:r>
              <a:rPr lang="en-US" sz="2400" b="1" dirty="0">
                <a:latin typeface="Times New Roman" pitchFamily="18" charset="0"/>
                <a:cs typeface="Times New Roman" pitchFamily="18" charset="0"/>
              </a:rPr>
              <a:t>Department of Artificial Intelligence &amp; Data Science (AI&amp;DS)</a:t>
            </a:r>
          </a:p>
        </p:txBody>
      </p:sp>
      <p:sp>
        <p:nvSpPr>
          <p:cNvPr id="7" name="TextBox 6">
            <a:extLst>
              <a:ext uri="{FF2B5EF4-FFF2-40B4-BE49-F238E27FC236}">
                <a16:creationId xmlns:a16="http://schemas.microsoft.com/office/drawing/2014/main" id="{9DB15AF4-7A16-6A88-7569-613D0C5F7270}"/>
              </a:ext>
            </a:extLst>
          </p:cNvPr>
          <p:cNvSpPr txBox="1"/>
          <p:nvPr/>
        </p:nvSpPr>
        <p:spPr>
          <a:xfrm>
            <a:off x="1552576" y="2510358"/>
            <a:ext cx="9086847" cy="461665"/>
          </a:xfrm>
          <a:prstGeom prst="rect">
            <a:avLst/>
          </a:prstGeom>
          <a:noFill/>
        </p:spPr>
        <p:txBody>
          <a:bodyPr wrap="none" rtlCol="0">
            <a:spAutoFit/>
          </a:bodyPr>
          <a:lstStyle/>
          <a:p>
            <a:pPr algn="ctr"/>
            <a:r>
              <a:rPr lang="en-IN" sz="2400" b="1" dirty="0">
                <a:latin typeface="Times New Roman" panose="02020603050405020304" pitchFamily="18" charset="0"/>
                <a:cs typeface="Times New Roman" panose="02020603050405020304" pitchFamily="18" charset="0"/>
              </a:rPr>
              <a:t>E – COMMERCE DATA PIPELINE &amp; ANALYTICS PLATFORM</a:t>
            </a:r>
          </a:p>
        </p:txBody>
      </p:sp>
    </p:spTree>
    <p:extLst>
      <p:ext uri="{BB962C8B-B14F-4D97-AF65-F5344CB8AC3E}">
        <p14:creationId xmlns:p14="http://schemas.microsoft.com/office/powerpoint/2010/main" val="7377804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76D2E-3A19-4D6C-8ADD-F94385C56703}"/>
              </a:ext>
            </a:extLst>
          </p:cNvPr>
          <p:cNvSpPr>
            <a:spLocks noGrp="1"/>
          </p:cNvSpPr>
          <p:nvPr>
            <p:ph type="title"/>
          </p:nvPr>
        </p:nvSpPr>
        <p:spPr>
          <a:xfrm>
            <a:off x="0" y="0"/>
            <a:ext cx="12192000" cy="1203649"/>
          </a:xfrm>
        </p:spPr>
        <p:txBody>
          <a:bodyPr/>
          <a:lstStyle/>
          <a:p>
            <a:pPr algn="ctr"/>
            <a:r>
              <a:rPr lang="en-IN" sz="3600" b="1" dirty="0">
                <a:latin typeface="Times New Roman" panose="02020603050405020304" pitchFamily="18" charset="0"/>
                <a:cs typeface="Times New Roman" panose="02020603050405020304" pitchFamily="18" charset="0"/>
              </a:rPr>
              <a:t>OUTLINE </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CFCE915-4185-4C62-8EF2-A59B4F631E3C}"/>
              </a:ext>
            </a:extLst>
          </p:cNvPr>
          <p:cNvSpPr>
            <a:spLocks noGrp="1"/>
          </p:cNvSpPr>
          <p:nvPr>
            <p:ph idx="1"/>
          </p:nvPr>
        </p:nvSpPr>
        <p:spPr>
          <a:xfrm>
            <a:off x="-1" y="1203649"/>
            <a:ext cx="12191999" cy="4973314"/>
          </a:xfrm>
        </p:spPr>
        <p:txBody>
          <a:bodyPr>
            <a:normAutofit/>
          </a:bodyPr>
          <a:lstStyle/>
          <a:p>
            <a:pPr marL="457200" indent="-457200" algn="just">
              <a:lnSpc>
                <a:spcPct val="150000"/>
              </a:lnSpc>
              <a:spcBef>
                <a:spcPts val="415"/>
              </a:spcBef>
              <a:buSzPct val="80000"/>
              <a:buFont typeface="+mj-lt"/>
              <a:buAutoNum type="arabicPeriod"/>
              <a:tabLst>
                <a:tab pos="367030" algn="l"/>
              </a:tabLst>
            </a:pPr>
            <a:r>
              <a:rPr lang="en-IN" dirty="0">
                <a:latin typeface="Times New Roman" panose="02020603050405020304" pitchFamily="18" charset="0"/>
                <a:ea typeface="Times New Roman" panose="02020603050405020304" pitchFamily="18" charset="0"/>
                <a:cs typeface="Times New Roman" panose="02020603050405020304" pitchFamily="18" charset="0"/>
              </a:rPr>
              <a:t>Abstract</a:t>
            </a:r>
          </a:p>
          <a:p>
            <a:pPr marL="457200" indent="-457200" algn="just">
              <a:lnSpc>
                <a:spcPct val="150000"/>
              </a:lnSpc>
              <a:spcBef>
                <a:spcPts val="415"/>
              </a:spcBef>
              <a:buSzPct val="80000"/>
              <a:buFont typeface="+mj-lt"/>
              <a:buAutoNum type="arabicPeriod"/>
              <a:tabLst>
                <a:tab pos="367030" algn="l"/>
              </a:tabLst>
            </a:pPr>
            <a:r>
              <a:rPr lang="en-IN" dirty="0">
                <a:latin typeface="Times New Roman" panose="02020603050405020304" pitchFamily="18" charset="0"/>
                <a:ea typeface="Times New Roman" panose="02020603050405020304" pitchFamily="18" charset="0"/>
                <a:cs typeface="Times New Roman" panose="02020603050405020304" pitchFamily="18" charset="0"/>
              </a:rPr>
              <a:t>Literature Survey</a:t>
            </a:r>
          </a:p>
          <a:p>
            <a:pPr marL="457200" indent="-457200" algn="just">
              <a:lnSpc>
                <a:spcPct val="150000"/>
              </a:lnSpc>
              <a:spcBef>
                <a:spcPts val="415"/>
              </a:spcBef>
              <a:buSzPct val="80000"/>
              <a:buFont typeface="+mj-lt"/>
              <a:buAutoNum type="arabicPeriod"/>
              <a:tabLst>
                <a:tab pos="367030" algn="l"/>
              </a:tabLst>
            </a:pPr>
            <a:r>
              <a:rPr lang="en-IN" dirty="0">
                <a:latin typeface="Times New Roman" panose="02020603050405020304" pitchFamily="18" charset="0"/>
                <a:ea typeface="Times New Roman" panose="02020603050405020304" pitchFamily="18" charset="0"/>
                <a:cs typeface="Times New Roman" panose="02020603050405020304" pitchFamily="18" charset="0"/>
              </a:rPr>
              <a:t>Existing System</a:t>
            </a:r>
          </a:p>
          <a:p>
            <a:pPr marL="457200" indent="-457200" algn="just">
              <a:lnSpc>
                <a:spcPct val="150000"/>
              </a:lnSpc>
              <a:spcBef>
                <a:spcPts val="415"/>
              </a:spcBef>
              <a:buSzPct val="80000"/>
              <a:buFont typeface="+mj-lt"/>
              <a:buAutoNum type="arabicPeriod"/>
              <a:tabLst>
                <a:tab pos="367030" algn="l"/>
              </a:tabLst>
            </a:pPr>
            <a:r>
              <a:rPr lang="en-IN" dirty="0">
                <a:latin typeface="Times New Roman" panose="02020603050405020304" pitchFamily="18" charset="0"/>
                <a:ea typeface="Times New Roman" panose="02020603050405020304" pitchFamily="18" charset="0"/>
                <a:cs typeface="Times New Roman" panose="02020603050405020304" pitchFamily="18" charset="0"/>
              </a:rPr>
              <a:t>Proposed System</a:t>
            </a:r>
          </a:p>
          <a:p>
            <a:pPr marL="457200" indent="-457200" algn="just">
              <a:lnSpc>
                <a:spcPct val="150000"/>
              </a:lnSpc>
              <a:spcBef>
                <a:spcPts val="415"/>
              </a:spcBef>
              <a:buSzPct val="80000"/>
              <a:buFont typeface="+mj-lt"/>
              <a:buAutoNum type="arabicPeriod"/>
              <a:tabLst>
                <a:tab pos="367030" algn="l"/>
              </a:tabLst>
            </a:pPr>
            <a:r>
              <a:rPr lang="en-IN" dirty="0">
                <a:latin typeface="Times New Roman" panose="02020603050405020304" pitchFamily="18" charset="0"/>
                <a:cs typeface="Times New Roman" panose="02020603050405020304" pitchFamily="18" charset="0"/>
              </a:rPr>
              <a:t>Block Diagram / Module Split – Up</a:t>
            </a:r>
          </a:p>
          <a:p>
            <a:pPr marL="457200" indent="-457200" algn="just">
              <a:lnSpc>
                <a:spcPct val="150000"/>
              </a:lnSpc>
              <a:spcBef>
                <a:spcPts val="415"/>
              </a:spcBef>
              <a:buSzPct val="80000"/>
              <a:buFont typeface="+mj-lt"/>
              <a:buAutoNum type="arabicPeriod"/>
              <a:tabLst>
                <a:tab pos="367030" algn="l"/>
              </a:tabLst>
            </a:pPr>
            <a:r>
              <a:rPr lang="en-IN" dirty="0">
                <a:latin typeface="Times New Roman" panose="02020603050405020304" pitchFamily="18" charset="0"/>
                <a:ea typeface="Times New Roman" panose="02020603050405020304" pitchFamily="18" charset="0"/>
                <a:cs typeface="Times New Roman" panose="02020603050405020304" pitchFamily="18" charset="0"/>
              </a:rPr>
              <a:t>References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22264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76D2E-3A19-4D6C-8ADD-F94385C56703}"/>
              </a:ext>
            </a:extLst>
          </p:cNvPr>
          <p:cNvSpPr>
            <a:spLocks noGrp="1"/>
          </p:cNvSpPr>
          <p:nvPr>
            <p:ph type="title"/>
          </p:nvPr>
        </p:nvSpPr>
        <p:spPr>
          <a:xfrm>
            <a:off x="0" y="0"/>
            <a:ext cx="12192000" cy="1203649"/>
          </a:xfrm>
        </p:spPr>
        <p:txBody>
          <a:bodyPr/>
          <a:lstStyle/>
          <a:p>
            <a:pPr algn="ctr"/>
            <a:r>
              <a:rPr lang="en-IN" sz="3600" b="1" dirty="0">
                <a:latin typeface="Times New Roman" panose="02020603050405020304" pitchFamily="18" charset="0"/>
                <a:cs typeface="Times New Roman" panose="02020603050405020304" pitchFamily="18" charset="0"/>
              </a:rPr>
              <a:t>ABSTRACT</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CFCE915-4185-4C62-8EF2-A59B4F631E3C}"/>
              </a:ext>
            </a:extLst>
          </p:cNvPr>
          <p:cNvSpPr>
            <a:spLocks noGrp="1"/>
          </p:cNvSpPr>
          <p:nvPr>
            <p:ph idx="1"/>
          </p:nvPr>
        </p:nvSpPr>
        <p:spPr>
          <a:xfrm>
            <a:off x="0" y="942342"/>
            <a:ext cx="12191999" cy="5915657"/>
          </a:xfrm>
        </p:spPr>
        <p:txBody>
          <a:bodyPr>
            <a:noAutofit/>
          </a:bodyPr>
          <a:lstStyle/>
          <a:p>
            <a:pPr marL="0" indent="0" algn="just">
              <a:lnSpc>
                <a:spcPct val="120000"/>
              </a:lnSpc>
              <a:buNone/>
            </a:pPr>
            <a:r>
              <a:rPr lang="en-IN" sz="2000" dirty="0">
                <a:latin typeface="Times New Roman" panose="02020603050405020304" pitchFamily="18" charset="0"/>
                <a:cs typeface="Times New Roman" panose="02020603050405020304" pitchFamily="18" charset="0"/>
              </a:rPr>
              <a:t>The </a:t>
            </a:r>
            <a:r>
              <a:rPr lang="en-IN" sz="2000" b="1" dirty="0">
                <a:latin typeface="Times New Roman" panose="02020603050405020304" pitchFamily="18" charset="0"/>
                <a:cs typeface="Times New Roman" panose="02020603050405020304" pitchFamily="18" charset="0"/>
              </a:rPr>
              <a:t>E – Commerce Data Pipeline &amp; Analytics Platform</a:t>
            </a:r>
            <a:r>
              <a:rPr lang="en-IN" sz="2000" dirty="0">
                <a:latin typeface="Times New Roman" panose="02020603050405020304" pitchFamily="18" charset="0"/>
                <a:cs typeface="Times New Roman" panose="02020603050405020304" pitchFamily="18" charset="0"/>
              </a:rPr>
              <a:t> is a data – driven system designed to collect, process, store, analyse, and visualize e – commerce business data to support better decision – making and business intelligence. In modern e – commerce environments, organizations generate large volumes of data through customer interactions, product sales, payments, orders, and reviews. Managing and extracting meaningful insights from this data manually becomes inefficient and time – consuming. Data is collected from multiple sources such as CSV files and databases containing information related to customers, products, transactions, orders, and payment details. During the extraction phase, data is gathered from these sources and prepared for processing. In the transformation phase, the system performs data cleaning, handling missing values, removing duplicate records, standardizing formats, and generating calculated business metrics. Finally, the processed data is loaded into a structured database for efficient storage and retrieval.</a:t>
            </a:r>
          </a:p>
          <a:p>
            <a:pPr marL="0" indent="0" algn="just">
              <a:lnSpc>
                <a:spcPct val="120000"/>
              </a:lnSpc>
              <a:buNone/>
            </a:pPr>
            <a:r>
              <a:rPr lang="en-IN" sz="2000" dirty="0">
                <a:latin typeface="Times New Roman" panose="02020603050405020304" pitchFamily="18" charset="0"/>
                <a:cs typeface="Times New Roman" panose="02020603050405020304" pitchFamily="18" charset="0"/>
              </a:rPr>
              <a:t>The project demonstrates practical implementation of </a:t>
            </a:r>
            <a:r>
              <a:rPr lang="en-IN" sz="2000" b="1" dirty="0">
                <a:latin typeface="Times New Roman" panose="02020603050405020304" pitchFamily="18" charset="0"/>
                <a:cs typeface="Times New Roman" panose="02020603050405020304" pitchFamily="18" charset="0"/>
              </a:rPr>
              <a:t>Data Engineering, Data Analytics, Business Intelligence, Database Management, and Data Visualization concepts </a:t>
            </a:r>
            <a:r>
              <a:rPr lang="en-IN" sz="2000" dirty="0">
                <a:latin typeface="Times New Roman" panose="02020603050405020304" pitchFamily="18" charset="0"/>
                <a:cs typeface="Times New Roman" panose="02020603050405020304" pitchFamily="18" charset="0"/>
              </a:rPr>
              <a:t>in a real – world e – commerce scenario. It provides students with hands – on experience in building end – to – end data solutions using modern technologies including </a:t>
            </a:r>
            <a:r>
              <a:rPr lang="en-IN" sz="2000" b="1" dirty="0">
                <a:latin typeface="Times New Roman" panose="02020603050405020304" pitchFamily="18" charset="0"/>
                <a:cs typeface="Times New Roman" panose="02020603050405020304" pitchFamily="18" charset="0"/>
              </a:rPr>
              <a:t>Python, Pandas, SQL, PostgreSQL, Power BI, Streamlit, and ETL workflows.</a:t>
            </a:r>
          </a:p>
        </p:txBody>
      </p:sp>
    </p:spTree>
    <p:extLst>
      <p:ext uri="{BB962C8B-B14F-4D97-AF65-F5344CB8AC3E}">
        <p14:creationId xmlns:p14="http://schemas.microsoft.com/office/powerpoint/2010/main" val="12875364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76D2E-3A19-4D6C-8ADD-F94385C56703}"/>
              </a:ext>
            </a:extLst>
          </p:cNvPr>
          <p:cNvSpPr>
            <a:spLocks noGrp="1"/>
          </p:cNvSpPr>
          <p:nvPr>
            <p:ph type="title"/>
          </p:nvPr>
        </p:nvSpPr>
        <p:spPr>
          <a:xfrm>
            <a:off x="0" y="0"/>
            <a:ext cx="12192000" cy="1203649"/>
          </a:xfrm>
        </p:spPr>
        <p:txBody>
          <a:bodyPr/>
          <a:lstStyle/>
          <a:p>
            <a:pPr algn="ctr"/>
            <a:r>
              <a:rPr lang="en-IN" sz="3600" b="1" dirty="0">
                <a:latin typeface="Times New Roman" panose="02020603050405020304" pitchFamily="18" charset="0"/>
                <a:cs typeface="Times New Roman" panose="02020603050405020304" pitchFamily="18" charset="0"/>
              </a:rPr>
              <a:t>LITERATURE SURVEY</a:t>
            </a:r>
          </a:p>
        </p:txBody>
      </p:sp>
      <p:graphicFrame>
        <p:nvGraphicFramePr>
          <p:cNvPr id="6" name="Table 6">
            <a:extLst>
              <a:ext uri="{FF2B5EF4-FFF2-40B4-BE49-F238E27FC236}">
                <a16:creationId xmlns:a16="http://schemas.microsoft.com/office/drawing/2014/main" id="{07F3E5CC-4B7D-4CB8-9F7A-4667E9A9813E}"/>
              </a:ext>
            </a:extLst>
          </p:cNvPr>
          <p:cNvGraphicFramePr>
            <a:graphicFrameLocks noGrp="1"/>
          </p:cNvGraphicFramePr>
          <p:nvPr>
            <p:ph idx="1"/>
            <p:extLst>
              <p:ext uri="{D42A27DB-BD31-4B8C-83A1-F6EECF244321}">
                <p14:modId xmlns:p14="http://schemas.microsoft.com/office/powerpoint/2010/main" val="70465705"/>
              </p:ext>
            </p:extLst>
          </p:nvPr>
        </p:nvGraphicFramePr>
        <p:xfrm>
          <a:off x="119270" y="1015238"/>
          <a:ext cx="11847443" cy="5603608"/>
        </p:xfrm>
        <a:graphic>
          <a:graphicData uri="http://schemas.openxmlformats.org/drawingml/2006/table">
            <a:tbl>
              <a:tblPr firstRow="1" bandRow="1">
                <a:tableStyleId>{5C22544A-7EE6-4342-B048-85BDC9FD1C3A}</a:tableStyleId>
              </a:tblPr>
              <a:tblGrid>
                <a:gridCol w="984619">
                  <a:extLst>
                    <a:ext uri="{9D8B030D-6E8A-4147-A177-3AD203B41FA5}">
                      <a16:colId xmlns:a16="http://schemas.microsoft.com/office/drawing/2014/main" val="3970585099"/>
                    </a:ext>
                  </a:extLst>
                </a:gridCol>
                <a:gridCol w="2521584">
                  <a:extLst>
                    <a:ext uri="{9D8B030D-6E8A-4147-A177-3AD203B41FA5}">
                      <a16:colId xmlns:a16="http://schemas.microsoft.com/office/drawing/2014/main" val="2247031847"/>
                    </a:ext>
                  </a:extLst>
                </a:gridCol>
                <a:gridCol w="3585692">
                  <a:extLst>
                    <a:ext uri="{9D8B030D-6E8A-4147-A177-3AD203B41FA5}">
                      <a16:colId xmlns:a16="http://schemas.microsoft.com/office/drawing/2014/main" val="4063182533"/>
                    </a:ext>
                  </a:extLst>
                </a:gridCol>
                <a:gridCol w="1529521">
                  <a:extLst>
                    <a:ext uri="{9D8B030D-6E8A-4147-A177-3AD203B41FA5}">
                      <a16:colId xmlns:a16="http://schemas.microsoft.com/office/drawing/2014/main" val="3726383669"/>
                    </a:ext>
                  </a:extLst>
                </a:gridCol>
                <a:gridCol w="3226027">
                  <a:extLst>
                    <a:ext uri="{9D8B030D-6E8A-4147-A177-3AD203B41FA5}">
                      <a16:colId xmlns:a16="http://schemas.microsoft.com/office/drawing/2014/main" val="363374994"/>
                    </a:ext>
                  </a:extLst>
                </a:gridCol>
              </a:tblGrid>
              <a:tr h="349103">
                <a:tc>
                  <a:txBody>
                    <a:bodyPr/>
                    <a:lstStyle/>
                    <a:p>
                      <a:pPr algn="ctr"/>
                      <a:r>
                        <a:rPr lang="en-IN" dirty="0">
                          <a:solidFill>
                            <a:schemeClr val="tx1"/>
                          </a:solidFill>
                          <a:latin typeface="Times New Roman" panose="02020603050405020304" pitchFamily="18" charset="0"/>
                          <a:cs typeface="Times New Roman" panose="02020603050405020304" pitchFamily="18" charset="0"/>
                        </a:rPr>
                        <a:t>S. 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US" sz="1800" b="1" dirty="0">
                          <a:solidFill>
                            <a:schemeClr val="tx1"/>
                          </a:solidFill>
                          <a:latin typeface="Times New Roman" panose="02020603050405020304" pitchFamily="18" charset="0"/>
                          <a:ea typeface="Calibri"/>
                          <a:cs typeface="Times New Roman" panose="02020603050405020304" pitchFamily="18" charset="0"/>
                        </a:rPr>
                        <a:t>Author</a:t>
                      </a:r>
                      <a:endParaRPr lang="en-US" sz="1800" dirty="0">
                        <a:solidFill>
                          <a:schemeClr val="tx1"/>
                        </a:solidFill>
                        <a:latin typeface="Times New Roman" panose="02020603050405020304" pitchFamily="18" charset="0"/>
                        <a:ea typeface="Calibri"/>
                        <a:cs typeface="Times New Roman" panose="02020603050405020304" pitchFamily="18" charset="0"/>
                      </a:endParaRP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US" sz="1800" b="1" dirty="0">
                          <a:solidFill>
                            <a:schemeClr val="tx1"/>
                          </a:solidFill>
                          <a:latin typeface="Times New Roman" panose="02020603050405020304" pitchFamily="18" charset="0"/>
                          <a:ea typeface="Calibri"/>
                          <a:cs typeface="Times New Roman" panose="02020603050405020304" pitchFamily="18" charset="0"/>
                        </a:rPr>
                        <a:t>Title</a:t>
                      </a:r>
                      <a:endParaRPr lang="en-US" sz="1800" dirty="0">
                        <a:solidFill>
                          <a:schemeClr val="tx1"/>
                        </a:solidFill>
                        <a:latin typeface="Times New Roman" panose="02020603050405020304" pitchFamily="18" charset="0"/>
                        <a:ea typeface="Calibri"/>
                        <a:cs typeface="Times New Roman" panose="02020603050405020304" pitchFamily="18" charset="0"/>
                      </a:endParaRP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US" sz="1800" b="1" dirty="0">
                          <a:solidFill>
                            <a:schemeClr val="tx1"/>
                          </a:solidFill>
                          <a:latin typeface="Times New Roman" panose="02020603050405020304" pitchFamily="18" charset="0"/>
                          <a:ea typeface="Calibri"/>
                          <a:cs typeface="Times New Roman" panose="02020603050405020304" pitchFamily="18" charset="0"/>
                        </a:rPr>
                        <a:t>Year</a:t>
                      </a:r>
                      <a:endParaRPr lang="en-US" sz="1800" dirty="0">
                        <a:solidFill>
                          <a:schemeClr val="tx1"/>
                        </a:solidFill>
                        <a:latin typeface="Times New Roman" panose="02020603050405020304" pitchFamily="18" charset="0"/>
                        <a:ea typeface="Calibri"/>
                        <a:cs typeface="Times New Roman" panose="02020603050405020304" pitchFamily="18" charset="0"/>
                      </a:endParaRP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US" sz="1800" b="1" dirty="0">
                          <a:solidFill>
                            <a:schemeClr val="tx1"/>
                          </a:solidFill>
                          <a:latin typeface="Times New Roman" panose="02020603050405020304" pitchFamily="18" charset="0"/>
                          <a:ea typeface="Calibri"/>
                          <a:cs typeface="Times New Roman" panose="02020603050405020304" pitchFamily="18" charset="0"/>
                        </a:rPr>
                        <a:t>Contributions</a:t>
                      </a:r>
                      <a:endParaRPr lang="en-US" sz="1800" dirty="0">
                        <a:solidFill>
                          <a:schemeClr val="tx1"/>
                        </a:solidFill>
                        <a:latin typeface="Times New Roman" panose="02020603050405020304" pitchFamily="18" charset="0"/>
                        <a:ea typeface="Calibri"/>
                        <a:cs typeface="Times New Roman" panose="02020603050405020304" pitchFamily="18" charset="0"/>
                      </a:endParaRP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28876767"/>
                  </a:ext>
                </a:extLst>
              </a:tr>
              <a:tr h="1309136">
                <a:tc>
                  <a:txBody>
                    <a:bodyPr/>
                    <a:lstStyle/>
                    <a:p>
                      <a:pPr lvl="0" algn="ctr"/>
                      <a:r>
                        <a:rPr lang="en-IN" sz="1400" dirty="0">
                          <a:latin typeface="Times New Roman" panose="02020603050405020304" pitchFamily="18" charset="0"/>
                          <a:cs typeface="Times New Roman" panose="02020603050405020304" pitchFamily="18" charset="0"/>
                        </a:rPr>
                        <a:t>1.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latin typeface="Times New Roman" panose="02020603050405020304" pitchFamily="18" charset="0"/>
                          <a:cs typeface="Times New Roman" panose="02020603050405020304" pitchFamily="18" charset="0"/>
                        </a:rPr>
                        <a:t>Mahesha. K, Sagar BR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IN" sz="1400" dirty="0">
                          <a:latin typeface="Times New Roman" panose="02020603050405020304" pitchFamily="18" charset="0"/>
                          <a:cs typeface="Times New Roman" panose="02020603050405020304" pitchFamily="18" charset="0"/>
                        </a:rPr>
                        <a:t>A Review On Real-time Data Pipelines For E-commerce Transactional Data Analytics</a:t>
                      </a:r>
                      <a:endParaRPr lang="en-US" sz="1400" dirty="0">
                        <a:latin typeface="Times New Roman" panose="02020603050405020304" pitchFamily="18" charset="0"/>
                        <a:ea typeface="Calibri"/>
                        <a:cs typeface="Times New Roman" panose="02020603050405020304" pitchFamily="18" charset="0"/>
                      </a:endParaRP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latin typeface="Times New Roman" panose="02020603050405020304" pitchFamily="18" charset="0"/>
                          <a:cs typeface="Times New Roman" panose="02020603050405020304" pitchFamily="18" charset="0"/>
                        </a:rPr>
                        <a:t>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b="0" i="0" u="none" strike="noStrike" kern="1200" dirty="0">
                          <a:solidFill>
                            <a:schemeClr val="dk1"/>
                          </a:solidFill>
                          <a:effectLst/>
                          <a:latin typeface="Times New Roman" panose="02020603050405020304" pitchFamily="18" charset="0"/>
                          <a:ea typeface="+mn-ea"/>
                          <a:cs typeface="Times New Roman" panose="02020603050405020304" pitchFamily="18" charset="0"/>
                        </a:rPr>
                        <a:t>Reviews real-time data pipeline architectures for e-commerce transactional data and highlights the importance of efficient data ingestion, processing, integration, and real-time analytics. </a:t>
                      </a:r>
                      <a:endParaRPr lang="en-IN"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6634156"/>
                  </a:ext>
                </a:extLst>
              </a:tr>
              <a:tr h="712753">
                <a:tc>
                  <a:txBody>
                    <a:bodyPr/>
                    <a:lstStyle/>
                    <a:p>
                      <a:pPr lvl="0" algn="ctr"/>
                      <a:r>
                        <a:rPr lang="en-IN" sz="1400" dirty="0">
                          <a:latin typeface="Times New Roman" panose="02020603050405020304" pitchFamily="18" charset="0"/>
                          <a:cs typeface="Times New Roman" panose="02020603050405020304" pitchFamily="18" charset="0"/>
                        </a:rPr>
                        <a:t>2.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lang="en-IN" sz="1400" dirty="0">
                          <a:latin typeface="Times New Roman" panose="02020603050405020304" pitchFamily="18" charset="0"/>
                          <a:cs typeface="Times New Roman" panose="02020603050405020304" pitchFamily="18" charset="0"/>
                        </a:rPr>
                        <a:t>Ts. Lee Chong Keat</a:t>
                      </a:r>
                      <a:endParaRPr lang="en-US" sz="1400" dirty="0">
                        <a:latin typeface="Times New Roman" panose="02020603050405020304" pitchFamily="18" charset="0"/>
                        <a:ea typeface="Calibri"/>
                        <a:cs typeface="Times New Roman" panose="02020603050405020304" pitchFamily="18" charset="0"/>
                      </a:endParaRP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US" sz="1400" dirty="0">
                          <a:latin typeface="Times New Roman" panose="02020603050405020304" pitchFamily="18" charset="0"/>
                          <a:ea typeface="Calibri"/>
                          <a:cs typeface="Times New Roman" panose="02020603050405020304" pitchFamily="18" charset="0"/>
                        </a:rPr>
                        <a:t>Design And Implementation Of A Cloud Based Big Data Pipeline Architecture For Global E-commerce Analytics</a:t>
                      </a: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IN" sz="1400" dirty="0">
                          <a:latin typeface="Times New Roman" panose="02020603050405020304" pitchFamily="18" charset="0"/>
                          <a:cs typeface="Times New Roman" panose="02020603050405020304" pitchFamily="18" charset="0"/>
                        </a:rPr>
                        <a:t>2025</a:t>
                      </a:r>
                      <a:endParaRPr lang="en-US" sz="1400" dirty="0">
                        <a:latin typeface="Times New Roman" panose="02020603050405020304" pitchFamily="18" charset="0"/>
                        <a:ea typeface="Calibri"/>
                        <a:cs typeface="Times New Roman" panose="02020603050405020304" pitchFamily="18" charset="0"/>
                      </a:endParaRP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IN" sz="1400" b="0" i="0" u="none" strike="noStrike" kern="1200" dirty="0">
                          <a:solidFill>
                            <a:schemeClr val="dk1"/>
                          </a:solidFill>
                          <a:effectLst/>
                          <a:latin typeface="Times New Roman" panose="02020603050405020304" pitchFamily="18" charset="0"/>
                          <a:ea typeface="+mn-ea"/>
                          <a:cs typeface="Times New Roman" panose="02020603050405020304" pitchFamily="18" charset="0"/>
                        </a:rPr>
                        <a:t>Proposes a cloud-based big-data pipeline architecture for handling large-scale global e-commerce data.</a:t>
                      </a:r>
                      <a:endParaRPr lang="en-US" sz="1100" dirty="0">
                        <a:latin typeface="Times New Roman" panose="02020603050405020304" pitchFamily="18" charset="0"/>
                        <a:ea typeface="Calibri"/>
                        <a:cs typeface="Times New Roman" panose="02020603050405020304" pitchFamily="18" charset="0"/>
                      </a:endParaRP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40586653"/>
                  </a:ext>
                </a:extLst>
              </a:tr>
              <a:tr h="951364">
                <a:tc>
                  <a:txBody>
                    <a:bodyPr/>
                    <a:lstStyle/>
                    <a:p>
                      <a:pPr lvl="0" algn="ctr"/>
                      <a:r>
                        <a:rPr lang="en-IN" sz="1400" dirty="0">
                          <a:latin typeface="Times New Roman" panose="02020603050405020304" pitchFamily="18" charset="0"/>
                          <a:cs typeface="Times New Roman" panose="02020603050405020304" pitchFamily="18" charset="0"/>
                        </a:rPr>
                        <a:t>3.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IN" sz="1400" dirty="0">
                          <a:latin typeface="Times New Roman" panose="02020603050405020304" pitchFamily="18" charset="0"/>
                          <a:cs typeface="Times New Roman" panose="02020603050405020304" pitchFamily="18" charset="0"/>
                        </a:rPr>
                        <a:t>Lucas Micol Policarpo Et Al.</a:t>
                      </a:r>
                      <a:endParaRPr lang="en-US" sz="1400" dirty="0">
                        <a:latin typeface="Times New Roman" panose="02020603050405020304" pitchFamily="18" charset="0"/>
                        <a:ea typeface="Calibri"/>
                        <a:cs typeface="Times New Roman" panose="02020603050405020304" pitchFamily="18" charset="0"/>
                      </a:endParaRP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lang="en-IN" sz="1400" dirty="0">
                          <a:latin typeface="Times New Roman" panose="02020603050405020304" pitchFamily="18" charset="0"/>
                          <a:cs typeface="Times New Roman" panose="02020603050405020304" pitchFamily="18" charset="0"/>
                        </a:rPr>
                        <a:t>Machine Learning Through The Lens Of E-commerce Initiatives: An Up-to-date Systematic Literature Review</a:t>
                      </a:r>
                      <a:endParaRPr lang="en-US" sz="1400" dirty="0">
                        <a:latin typeface="Times New Roman" panose="02020603050405020304" pitchFamily="18" charset="0"/>
                        <a:ea typeface="Calibri"/>
                        <a:cs typeface="Times New Roman" panose="02020603050405020304" pitchFamily="18" charset="0"/>
                      </a:endParaRP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lang="en-IN" sz="1400" dirty="0">
                          <a:latin typeface="Times New Roman" panose="02020603050405020304" pitchFamily="18" charset="0"/>
                          <a:cs typeface="Times New Roman" panose="02020603050405020304" pitchFamily="18" charset="0"/>
                        </a:rPr>
                        <a:t>2021</a:t>
                      </a: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b="0" i="0" u="none" strike="noStrike" kern="1200" dirty="0">
                          <a:solidFill>
                            <a:schemeClr val="dk1"/>
                          </a:solidFill>
                          <a:effectLst/>
                          <a:latin typeface="Times New Roman" panose="02020603050405020304" pitchFamily="18" charset="0"/>
                          <a:ea typeface="+mn-ea"/>
                          <a:cs typeface="Times New Roman" panose="02020603050405020304" pitchFamily="18" charset="0"/>
                        </a:rPr>
                        <a:t>Systematically reviews the applications of machine learning in e-commerce, including prediction, personalization, recommendation, and customer analytics.</a:t>
                      </a:r>
                      <a:endParaRPr lang="en-IN" sz="1100" dirty="0">
                        <a:latin typeface="Times New Roman" panose="02020603050405020304" pitchFamily="18" charset="0"/>
                        <a:cs typeface="Times New Roman" panose="02020603050405020304" pitchFamily="18" charset="0"/>
                      </a:endParaRP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11515839"/>
                  </a:ext>
                </a:extLst>
              </a:tr>
              <a:tr h="1018217">
                <a:tc>
                  <a:txBody>
                    <a:bodyPr/>
                    <a:lstStyle/>
                    <a:p>
                      <a:pPr lvl="0" algn="ctr"/>
                      <a:r>
                        <a:rPr lang="en-IN" sz="1400" dirty="0">
                          <a:latin typeface="Times New Roman" panose="02020603050405020304" pitchFamily="18" charset="0"/>
                          <a:cs typeface="Times New Roman" panose="02020603050405020304" pitchFamily="18" charset="0"/>
                        </a:rPr>
                        <a:t>4.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IN" sz="1400" dirty="0">
                          <a:latin typeface="Times New Roman" panose="02020603050405020304" pitchFamily="18" charset="0"/>
                          <a:cs typeface="Times New Roman" panose="02020603050405020304" pitchFamily="18" charset="0"/>
                        </a:rPr>
                        <a:t>Mohsen M. Abdollahzadeh Barforoush Et Al.</a:t>
                      </a:r>
                      <a:endParaRPr lang="en-US" sz="1400" dirty="0">
                        <a:latin typeface="Times New Roman" panose="02020603050405020304" pitchFamily="18" charset="0"/>
                        <a:ea typeface="Calibri"/>
                        <a:cs typeface="Times New Roman" panose="02020603050405020304" pitchFamily="18" charset="0"/>
                      </a:endParaRP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IN" sz="1400" dirty="0">
                          <a:latin typeface="Times New Roman" panose="02020603050405020304" pitchFamily="18" charset="0"/>
                          <a:cs typeface="Times New Roman" panose="02020603050405020304" pitchFamily="18" charset="0"/>
                        </a:rPr>
                        <a:t>A Systematic Study On The Recommender Systems In The E-commerce</a:t>
                      </a:r>
                      <a:endParaRPr lang="en-US" sz="1400" dirty="0">
                        <a:latin typeface="Times New Roman" panose="02020603050405020304" pitchFamily="18" charset="0"/>
                        <a:ea typeface="Calibri"/>
                        <a:cs typeface="Times New Roman" panose="02020603050405020304" pitchFamily="18" charset="0"/>
                      </a:endParaRP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IN" sz="1400" dirty="0">
                          <a:latin typeface="Times New Roman" panose="02020603050405020304" pitchFamily="18" charset="0"/>
                          <a:cs typeface="Times New Roman" panose="02020603050405020304" pitchFamily="18" charset="0"/>
                        </a:rPr>
                        <a:t>2020</a:t>
                      </a:r>
                      <a:endParaRPr lang="en-US" sz="1400" dirty="0">
                        <a:latin typeface="Times New Roman" panose="02020603050405020304" pitchFamily="18" charset="0"/>
                        <a:ea typeface="Calibri"/>
                        <a:cs typeface="Times New Roman" panose="02020603050405020304" pitchFamily="18" charset="0"/>
                      </a:endParaRP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IN" sz="1400" b="0" i="0" u="none" strike="noStrike" kern="1200" dirty="0">
                          <a:solidFill>
                            <a:schemeClr val="dk1"/>
                          </a:solidFill>
                          <a:effectLst/>
                          <a:latin typeface="Times New Roman" panose="02020603050405020304" pitchFamily="18" charset="0"/>
                          <a:ea typeface="+mn-ea"/>
                          <a:cs typeface="Times New Roman" panose="02020603050405020304" pitchFamily="18" charset="0"/>
                        </a:rPr>
                        <a:t>Examines recommendation-system approaches used in e-commerce and emphasizes the role of customer and product data in generating personalized recommendations.</a:t>
                      </a:r>
                      <a:endParaRPr lang="en-US" sz="1100" dirty="0">
                        <a:latin typeface="Times New Roman" panose="02020603050405020304" pitchFamily="18" charset="0"/>
                        <a:ea typeface="Calibri"/>
                        <a:cs typeface="Times New Roman" panose="02020603050405020304" pitchFamily="18" charset="0"/>
                      </a:endParaRP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85148469"/>
                  </a:ext>
                </a:extLst>
              </a:tr>
              <a:tr h="1194077">
                <a:tc>
                  <a:txBody>
                    <a:bodyPr/>
                    <a:lstStyle/>
                    <a:p>
                      <a:pPr lvl="0" algn="ctr"/>
                      <a:r>
                        <a:rPr lang="en-IN" sz="1400" dirty="0">
                          <a:latin typeface="Times New Roman" panose="02020603050405020304" pitchFamily="18" charset="0"/>
                          <a:cs typeface="Times New Roman" panose="02020603050405020304" pitchFamily="18" charset="0"/>
                        </a:rPr>
                        <a:t>5.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US" sz="1400" dirty="0">
                          <a:latin typeface="Times New Roman" panose="02020603050405020304" pitchFamily="18" charset="0"/>
                          <a:ea typeface="Calibri"/>
                          <a:cs typeface="Times New Roman" panose="02020603050405020304" pitchFamily="18" charset="0"/>
                        </a:rPr>
                        <a:t>Aminu Da’u &amp; Naomie Salim</a:t>
                      </a: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lang="en-US" sz="1400" dirty="0">
                          <a:latin typeface="Times New Roman" panose="02020603050405020304" pitchFamily="18" charset="0"/>
                          <a:ea typeface="Calibri"/>
                          <a:cs typeface="Times New Roman" panose="02020603050405020304" pitchFamily="18" charset="0"/>
                        </a:rPr>
                        <a:t>Recommendation System Based On Deep Learning Methods: A Systematic Review And New Directions</a:t>
                      </a: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US" sz="1400" dirty="0">
                          <a:latin typeface="Times New Roman" panose="02020603050405020304" pitchFamily="18" charset="0"/>
                          <a:ea typeface="Calibri"/>
                          <a:cs typeface="Times New Roman" panose="02020603050405020304" pitchFamily="18" charset="0"/>
                        </a:rPr>
                        <a:t>2020</a:t>
                      </a: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spcAft>
                          <a:spcPts val="0"/>
                        </a:spcAft>
                      </a:pPr>
                      <a:r>
                        <a:rPr lang="en-IN" sz="1400" b="0" i="0" u="none" strike="noStrike" kern="1200" dirty="0">
                          <a:solidFill>
                            <a:schemeClr val="dk1"/>
                          </a:solidFill>
                          <a:effectLst/>
                          <a:latin typeface="Times New Roman" panose="02020603050405020304" pitchFamily="18" charset="0"/>
                          <a:ea typeface="+mn-ea"/>
                          <a:cs typeface="Times New Roman" panose="02020603050405020304" pitchFamily="18" charset="0"/>
                        </a:rPr>
                        <a:t>Reviews deep-learning techniques for recommendation systems and identifies research directions for improving personalized e-commerce services. </a:t>
                      </a:r>
                      <a:endParaRPr lang="en-US" sz="1100" dirty="0">
                        <a:latin typeface="Times New Roman" panose="02020603050405020304" pitchFamily="18" charset="0"/>
                        <a:ea typeface="Calibri"/>
                        <a:cs typeface="Times New Roman" panose="02020603050405020304" pitchFamily="18" charset="0"/>
                      </a:endParaRP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91952141"/>
                  </a:ext>
                </a:extLst>
              </a:tr>
            </a:tbl>
          </a:graphicData>
        </a:graphic>
      </p:graphicFrame>
    </p:spTree>
    <p:extLst>
      <p:ext uri="{BB962C8B-B14F-4D97-AF65-F5344CB8AC3E}">
        <p14:creationId xmlns:p14="http://schemas.microsoft.com/office/powerpoint/2010/main" val="2957941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76D2E-3A19-4D6C-8ADD-F94385C56703}"/>
              </a:ext>
            </a:extLst>
          </p:cNvPr>
          <p:cNvSpPr>
            <a:spLocks noGrp="1"/>
          </p:cNvSpPr>
          <p:nvPr>
            <p:ph type="title"/>
          </p:nvPr>
        </p:nvSpPr>
        <p:spPr>
          <a:xfrm>
            <a:off x="0" y="0"/>
            <a:ext cx="12192000" cy="1203649"/>
          </a:xfrm>
        </p:spPr>
        <p:txBody>
          <a:bodyPr/>
          <a:lstStyle/>
          <a:p>
            <a:pPr algn="ctr"/>
            <a:r>
              <a:rPr lang="en-IN" sz="3600" b="1" dirty="0">
                <a:latin typeface="Times New Roman" panose="02020603050405020304" pitchFamily="18" charset="0"/>
                <a:cs typeface="Times New Roman" panose="02020603050405020304" pitchFamily="18" charset="0"/>
              </a:rPr>
              <a:t>EXISTING SYSTEM</a:t>
            </a:r>
          </a:p>
        </p:txBody>
      </p:sp>
      <p:sp>
        <p:nvSpPr>
          <p:cNvPr id="3" name="Content Placeholder 2">
            <a:extLst>
              <a:ext uri="{FF2B5EF4-FFF2-40B4-BE49-F238E27FC236}">
                <a16:creationId xmlns:a16="http://schemas.microsoft.com/office/drawing/2014/main" id="{ECFCE915-4185-4C62-8EF2-A59B4F631E3C}"/>
              </a:ext>
            </a:extLst>
          </p:cNvPr>
          <p:cNvSpPr>
            <a:spLocks noGrp="1"/>
          </p:cNvSpPr>
          <p:nvPr>
            <p:ph idx="1"/>
          </p:nvPr>
        </p:nvSpPr>
        <p:spPr>
          <a:xfrm>
            <a:off x="1" y="942342"/>
            <a:ext cx="12191999" cy="5915657"/>
          </a:xfrm>
        </p:spPr>
        <p:txBody>
          <a:bodyPr>
            <a:noAutofit/>
          </a:bodyPr>
          <a:lstStyle/>
          <a:p>
            <a:pPr algn="just">
              <a:lnSpc>
                <a:spcPct val="100000"/>
              </a:lnSpc>
            </a:pPr>
            <a:r>
              <a:rPr lang="en-IN" sz="2000" dirty="0">
                <a:latin typeface="Times New Roman" panose="02020603050405020304" pitchFamily="18" charset="0"/>
                <a:cs typeface="Times New Roman" panose="02020603050405020304" pitchFamily="18" charset="0"/>
              </a:rPr>
              <a:t>In existing approach, the e – commerce data is collected from different fields such as </a:t>
            </a:r>
            <a:r>
              <a:rPr lang="en-IN" sz="2000" b="1" dirty="0">
                <a:latin typeface="Times New Roman" panose="02020603050405020304" pitchFamily="18" charset="0"/>
                <a:cs typeface="Times New Roman" panose="02020603050405020304" pitchFamily="18" charset="0"/>
              </a:rPr>
              <a:t>customer records, customer reviews, products, orders, payments, and sellers. </a:t>
            </a:r>
            <a:r>
              <a:rPr lang="en-IN" sz="2000" dirty="0">
                <a:latin typeface="Times New Roman" panose="02020603050405020304" pitchFamily="18" charset="0"/>
                <a:cs typeface="Times New Roman" panose="02020603050405020304" pitchFamily="18" charset="0"/>
              </a:rPr>
              <a:t>These data sources may be maintained separately in </a:t>
            </a:r>
            <a:r>
              <a:rPr lang="en-IN" sz="2000" b="1" dirty="0">
                <a:latin typeface="Times New Roman" panose="02020603050405020304" pitchFamily="18" charset="0"/>
                <a:cs typeface="Times New Roman" panose="02020603050405020304" pitchFamily="18" charset="0"/>
              </a:rPr>
              <a:t>CSV files, spreadsheets, application databases, or different business systems. </a:t>
            </a:r>
            <a:r>
              <a:rPr lang="en-IN" sz="2000" dirty="0">
                <a:latin typeface="Times New Roman" panose="02020603050405020304" pitchFamily="18" charset="0"/>
                <a:cs typeface="Times New Roman" panose="02020603050405020304" pitchFamily="18" charset="0"/>
              </a:rPr>
              <a:t>And to perform analysis, the data often needs to be manually </a:t>
            </a:r>
            <a:r>
              <a:rPr lang="en-IN" sz="2000" b="1" dirty="0">
                <a:latin typeface="Times New Roman" panose="02020603050405020304" pitchFamily="18" charset="0"/>
                <a:cs typeface="Times New Roman" panose="02020603050405020304" pitchFamily="18" charset="0"/>
              </a:rPr>
              <a:t>collected, cleaned, combined, and prepared</a:t>
            </a:r>
            <a:r>
              <a:rPr lang="en-IN" sz="2000" dirty="0">
                <a:latin typeface="Times New Roman" panose="02020603050405020304" pitchFamily="18" charset="0"/>
                <a:cs typeface="Times New Roman" panose="02020603050405020304" pitchFamily="18" charset="0"/>
              </a:rPr>
              <a:t> before it can be used. </a:t>
            </a:r>
          </a:p>
          <a:p>
            <a:pPr algn="just">
              <a:lnSpc>
                <a:spcPct val="100000"/>
              </a:lnSpc>
            </a:pPr>
            <a:r>
              <a:rPr lang="en-IN" sz="2000" dirty="0">
                <a:latin typeface="Times New Roman" panose="02020603050405020304" pitchFamily="18" charset="0"/>
                <a:cs typeface="Times New Roman" panose="02020603050405020304" pitchFamily="18" charset="0"/>
              </a:rPr>
              <a:t>Data analysts may use tools such as </a:t>
            </a:r>
            <a:r>
              <a:rPr lang="en-IN" sz="2000" b="1" dirty="0">
                <a:latin typeface="Times New Roman" panose="02020603050405020304" pitchFamily="18" charset="0"/>
                <a:cs typeface="Times New Roman" panose="02020603050405020304" pitchFamily="18" charset="0"/>
              </a:rPr>
              <a:t>Excel, Python, SQL,</a:t>
            </a:r>
            <a:r>
              <a:rPr lang="en-IN" sz="2000" dirty="0">
                <a:latin typeface="Times New Roman" panose="02020603050405020304" pitchFamily="18" charset="0"/>
                <a:cs typeface="Times New Roman" panose="02020603050405020304" pitchFamily="18" charset="0"/>
              </a:rPr>
              <a:t> or separate </a:t>
            </a:r>
            <a:r>
              <a:rPr lang="en-IN" sz="2000" b="1" dirty="0">
                <a:latin typeface="Times New Roman" panose="02020603050405020304" pitchFamily="18" charset="0"/>
                <a:cs typeface="Times New Roman" panose="02020603050405020304" pitchFamily="18" charset="0"/>
              </a:rPr>
              <a:t>business intelligence applications</a:t>
            </a:r>
            <a:r>
              <a:rPr lang="en-IN" sz="2000" dirty="0">
                <a:latin typeface="Times New Roman" panose="02020603050405020304" pitchFamily="18" charset="0"/>
                <a:cs typeface="Times New Roman" panose="02020603050405020304" pitchFamily="18" charset="0"/>
              </a:rPr>
              <a:t> to generate reports and dashboards. The </a:t>
            </a:r>
            <a:r>
              <a:rPr lang="en-IN" sz="2000" b="1" dirty="0">
                <a:latin typeface="Times New Roman" panose="02020603050405020304" pitchFamily="18" charset="0"/>
                <a:cs typeface="Times New Roman" panose="02020603050405020304" pitchFamily="18" charset="0"/>
              </a:rPr>
              <a:t>cleaning, transformation, analysis, and visualization</a:t>
            </a:r>
            <a:r>
              <a:rPr lang="en-IN" sz="2000" dirty="0">
                <a:latin typeface="Times New Roman" panose="02020603050405020304" pitchFamily="18" charset="0"/>
                <a:cs typeface="Times New Roman" panose="02020603050405020304" pitchFamily="18" charset="0"/>
              </a:rPr>
              <a:t> activities may be performed as </a:t>
            </a:r>
            <a:r>
              <a:rPr lang="en-IN" sz="2000" b="1" dirty="0">
                <a:latin typeface="Times New Roman" panose="02020603050405020304" pitchFamily="18" charset="0"/>
                <a:cs typeface="Times New Roman" panose="02020603050405020304" pitchFamily="18" charset="0"/>
              </a:rPr>
              <a:t>separate processes rather than as a single integrated pipeline. </a:t>
            </a:r>
          </a:p>
          <a:p>
            <a:pPr marL="0" indent="0" algn="just">
              <a:lnSpc>
                <a:spcPct val="100000"/>
              </a:lnSpc>
              <a:buNone/>
            </a:pPr>
            <a:r>
              <a:rPr lang="en-IN" sz="2000" b="1" dirty="0">
                <a:latin typeface="Times New Roman" panose="02020603050405020304" pitchFamily="18" charset="0"/>
                <a:cs typeface="Times New Roman" panose="02020603050405020304" pitchFamily="18" charset="0"/>
              </a:rPr>
              <a:t>CHALLENGES IN THE EXISTING SYSTEM:</a:t>
            </a:r>
          </a:p>
          <a:p>
            <a:pPr algn="just">
              <a:lnSpc>
                <a:spcPct val="100000"/>
              </a:lnSpc>
            </a:pPr>
            <a:r>
              <a:rPr lang="en-IN" sz="2000" b="1" dirty="0">
                <a:latin typeface="Times New Roman" panose="02020603050405020304" pitchFamily="18" charset="0"/>
                <a:cs typeface="Times New Roman" panose="02020603050405020304" pitchFamily="18" charset="0"/>
              </a:rPr>
              <a:t>Data Fragmentation </a:t>
            </a:r>
            <a:r>
              <a:rPr lang="en-IN" sz="2000" dirty="0">
                <a:latin typeface="Times New Roman" panose="02020603050405020304" pitchFamily="18" charset="0"/>
                <a:cs typeface="Times New Roman" panose="02020603050405020304" pitchFamily="18" charset="0"/>
              </a:rPr>
              <a:t>(Data is stored in different sources)</a:t>
            </a:r>
          </a:p>
          <a:p>
            <a:pPr algn="just">
              <a:lnSpc>
                <a:spcPct val="100000"/>
              </a:lnSpc>
            </a:pPr>
            <a:r>
              <a:rPr lang="en-IN" sz="2000" b="1" dirty="0">
                <a:latin typeface="Times New Roman" panose="02020603050405020304" pitchFamily="18" charset="0"/>
                <a:cs typeface="Times New Roman" panose="02020603050405020304" pitchFamily="18" charset="0"/>
              </a:rPr>
              <a:t>Manual Data Processing </a:t>
            </a:r>
            <a:r>
              <a:rPr lang="en-IN" sz="2000" dirty="0">
                <a:latin typeface="Times New Roman" panose="02020603050405020304" pitchFamily="18" charset="0"/>
                <a:cs typeface="Times New Roman" panose="02020603050405020304" pitchFamily="18" charset="0"/>
              </a:rPr>
              <a:t>(manually collected, cleaned, and combined before analysis) </a:t>
            </a:r>
          </a:p>
          <a:p>
            <a:pPr algn="just">
              <a:lnSpc>
                <a:spcPct val="100000"/>
              </a:lnSpc>
            </a:pPr>
            <a:r>
              <a:rPr lang="en-IN" sz="2000" b="1" dirty="0">
                <a:latin typeface="Times New Roman" panose="02020603050405020304" pitchFamily="18" charset="0"/>
                <a:cs typeface="Times New Roman" panose="02020603050405020304" pitchFamily="18" charset="0"/>
              </a:rPr>
              <a:t>Data – Quality Issues </a:t>
            </a:r>
            <a:r>
              <a:rPr lang="en-IN" sz="2000" dirty="0">
                <a:latin typeface="Times New Roman" panose="02020603050405020304" pitchFamily="18" charset="0"/>
                <a:cs typeface="Times New Roman" panose="02020603050405020304" pitchFamily="18" charset="0"/>
              </a:rPr>
              <a:t>(Missing, duplicate, inconsistent, or invalid data may affect analysis)</a:t>
            </a:r>
          </a:p>
          <a:p>
            <a:pPr algn="just">
              <a:lnSpc>
                <a:spcPct val="100000"/>
              </a:lnSpc>
            </a:pPr>
            <a:r>
              <a:rPr lang="en-IN" sz="2000" dirty="0">
                <a:latin typeface="Times New Roman" panose="02020603050405020304" pitchFamily="18" charset="0"/>
                <a:cs typeface="Times New Roman" panose="02020603050405020304" pitchFamily="18" charset="0"/>
              </a:rPr>
              <a:t>⁠</a:t>
            </a:r>
            <a:r>
              <a:rPr lang="en-IN" sz="2000" b="1" dirty="0">
                <a:latin typeface="Times New Roman" panose="02020603050405020304" pitchFamily="18" charset="0"/>
                <a:cs typeface="Times New Roman" panose="02020603050405020304" pitchFamily="18" charset="0"/>
              </a:rPr>
              <a:t>Limited Automation </a:t>
            </a:r>
            <a:r>
              <a:rPr lang="en-IN" sz="2000" dirty="0">
                <a:latin typeface="Times New Roman" panose="02020603050405020304" pitchFamily="18" charset="0"/>
                <a:cs typeface="Times New Roman" panose="02020603050405020304" pitchFamily="18" charset="0"/>
              </a:rPr>
              <a:t>(Data refresh and processing may require manual execution) </a:t>
            </a:r>
          </a:p>
          <a:p>
            <a:pPr algn="just">
              <a:lnSpc>
                <a:spcPct val="100000"/>
              </a:lnSpc>
            </a:pPr>
            <a:r>
              <a:rPr lang="en-IN" sz="2000" b="1" dirty="0">
                <a:latin typeface="Times New Roman" panose="02020603050405020304" pitchFamily="18" charset="0"/>
                <a:cs typeface="Times New Roman" panose="02020603050405020304" pitchFamily="18" charset="0"/>
              </a:rPr>
              <a:t>⁠Limited Predictive Capability </a:t>
            </a:r>
            <a:r>
              <a:rPr lang="en-IN" sz="2000" dirty="0">
                <a:latin typeface="Times New Roman" panose="02020603050405020304" pitchFamily="18" charset="0"/>
                <a:cs typeface="Times New Roman" panose="02020603050405020304" pitchFamily="18" charset="0"/>
              </a:rPr>
              <a:t>(Traditional reporting mainly explains historical performance rather than future trends)</a:t>
            </a:r>
          </a:p>
        </p:txBody>
      </p:sp>
    </p:spTree>
    <p:extLst>
      <p:ext uri="{BB962C8B-B14F-4D97-AF65-F5344CB8AC3E}">
        <p14:creationId xmlns:p14="http://schemas.microsoft.com/office/powerpoint/2010/main" val="20684326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76D2E-3A19-4D6C-8ADD-F94385C56703}"/>
              </a:ext>
            </a:extLst>
          </p:cNvPr>
          <p:cNvSpPr>
            <a:spLocks noGrp="1"/>
          </p:cNvSpPr>
          <p:nvPr>
            <p:ph type="title"/>
          </p:nvPr>
        </p:nvSpPr>
        <p:spPr>
          <a:xfrm>
            <a:off x="0" y="0"/>
            <a:ext cx="12192000" cy="1203649"/>
          </a:xfrm>
        </p:spPr>
        <p:txBody>
          <a:bodyPr/>
          <a:lstStyle/>
          <a:p>
            <a:pPr algn="ctr"/>
            <a:r>
              <a:rPr lang="en-IN" sz="3600" b="1" dirty="0">
                <a:latin typeface="Times New Roman" panose="02020603050405020304" pitchFamily="18" charset="0"/>
                <a:cs typeface="Times New Roman" panose="02020603050405020304" pitchFamily="18" charset="0"/>
              </a:rPr>
              <a:t>PROPOSED SYSTEM</a:t>
            </a:r>
          </a:p>
        </p:txBody>
      </p:sp>
      <p:sp>
        <p:nvSpPr>
          <p:cNvPr id="3" name="Content Placeholder 2">
            <a:extLst>
              <a:ext uri="{FF2B5EF4-FFF2-40B4-BE49-F238E27FC236}">
                <a16:creationId xmlns:a16="http://schemas.microsoft.com/office/drawing/2014/main" id="{ECFCE915-4185-4C62-8EF2-A59B4F631E3C}"/>
              </a:ext>
            </a:extLst>
          </p:cNvPr>
          <p:cNvSpPr>
            <a:spLocks noGrp="1"/>
          </p:cNvSpPr>
          <p:nvPr>
            <p:ph idx="1"/>
          </p:nvPr>
        </p:nvSpPr>
        <p:spPr>
          <a:xfrm>
            <a:off x="1" y="942342"/>
            <a:ext cx="12191999" cy="5915657"/>
          </a:xfrm>
        </p:spPr>
        <p:txBody>
          <a:bodyPr>
            <a:noAutofit/>
          </a:bodyPr>
          <a:lstStyle/>
          <a:p>
            <a:pPr algn="just"/>
            <a:r>
              <a:rPr lang="en-IN" sz="2000" dirty="0">
                <a:latin typeface="Times New Roman" panose="02020603050405020304" pitchFamily="18" charset="0"/>
                <a:cs typeface="Times New Roman" panose="02020603050405020304" pitchFamily="18" charset="0"/>
              </a:rPr>
              <a:t>The developing system for </a:t>
            </a:r>
            <a:r>
              <a:rPr lang="en-IN" sz="2000" b="1" dirty="0">
                <a:latin typeface="Times New Roman" panose="02020603050405020304" pitchFamily="18" charset="0"/>
                <a:cs typeface="Times New Roman" panose="02020603050405020304" pitchFamily="18" charset="0"/>
              </a:rPr>
              <a:t>E – Commerce Data Pipeline &amp; Analytics Platform</a:t>
            </a:r>
            <a:r>
              <a:rPr lang="en-IN" sz="2000" dirty="0">
                <a:latin typeface="Times New Roman" panose="02020603050405020304" pitchFamily="18" charset="0"/>
                <a:cs typeface="Times New Roman" panose="02020603050405020304" pitchFamily="18" charset="0"/>
              </a:rPr>
              <a:t> is an interactive </a:t>
            </a:r>
            <a:r>
              <a:rPr lang="en-IN" sz="2000" b="1" dirty="0">
                <a:latin typeface="Times New Roman" panose="02020603050405020304" pitchFamily="18" charset="0"/>
                <a:cs typeface="Times New Roman" panose="02020603050405020304" pitchFamily="18" charset="0"/>
              </a:rPr>
              <a:t>web – based analytics system </a:t>
            </a:r>
            <a:r>
              <a:rPr lang="en-IN" sz="2000" dirty="0">
                <a:latin typeface="Times New Roman" panose="02020603050405020304" pitchFamily="18" charset="0"/>
                <a:cs typeface="Times New Roman" panose="02020603050405020304" pitchFamily="18" charset="0"/>
              </a:rPr>
              <a:t>designed to automate the complete journey of e – commerce data from raw input to business insights. The system accepts e – commerce data from multiple structured sources such as customer, product, order, order – item, payment, seller, and review datasets. </a:t>
            </a:r>
          </a:p>
          <a:p>
            <a:pPr algn="just"/>
            <a:r>
              <a:rPr lang="en-IN" sz="2000" dirty="0">
                <a:latin typeface="Times New Roman" panose="02020603050405020304" pitchFamily="18" charset="0"/>
                <a:cs typeface="Times New Roman" panose="02020603050405020304" pitchFamily="18" charset="0"/>
              </a:rPr>
              <a:t>A </a:t>
            </a:r>
            <a:r>
              <a:rPr lang="en-IN" sz="2000" b="1" dirty="0">
                <a:latin typeface="Times New Roman" panose="02020603050405020304" pitchFamily="18" charset="0"/>
                <a:cs typeface="Times New Roman" panose="02020603050405020304" pitchFamily="18" charset="0"/>
              </a:rPr>
              <a:t>Python – Based ETL (Extract, Transform, Load) pipeline</a:t>
            </a:r>
            <a:r>
              <a:rPr lang="en-IN" sz="2000" dirty="0">
                <a:latin typeface="Times New Roman" panose="02020603050405020304" pitchFamily="18" charset="0"/>
                <a:cs typeface="Times New Roman" panose="02020603050405020304" pitchFamily="18" charset="0"/>
              </a:rPr>
              <a:t> extracts the </a:t>
            </a:r>
            <a:r>
              <a:rPr lang="en-IN" sz="2000" b="1" dirty="0">
                <a:latin typeface="Times New Roman" panose="02020603050405020304" pitchFamily="18" charset="0"/>
                <a:cs typeface="Times New Roman" panose="02020603050405020304" pitchFamily="18" charset="0"/>
              </a:rPr>
              <a:t>raw data, cleans and transforms it </a:t>
            </a:r>
            <a:r>
              <a:rPr lang="en-IN" sz="2000" dirty="0">
                <a:latin typeface="Times New Roman" panose="02020603050405020304" pitchFamily="18" charset="0"/>
                <a:cs typeface="Times New Roman" panose="02020603050405020304" pitchFamily="18" charset="0"/>
              </a:rPr>
              <a:t>and  performs data – quality validation, and loads the processed data into a centralized </a:t>
            </a:r>
            <a:r>
              <a:rPr lang="en-IN" sz="2000" b="1" dirty="0">
                <a:latin typeface="Times New Roman" panose="02020603050405020304" pitchFamily="18" charset="0"/>
                <a:cs typeface="Times New Roman" panose="02020603050405020304" pitchFamily="18" charset="0"/>
              </a:rPr>
              <a:t>PostgreSQL database</a:t>
            </a:r>
            <a:r>
              <a:rPr lang="en-IN" sz="2000" dirty="0">
                <a:latin typeface="Times New Roman" panose="02020603050405020304" pitchFamily="18" charset="0"/>
                <a:cs typeface="Times New Roman" panose="02020603050405020304" pitchFamily="18" charset="0"/>
              </a:rPr>
              <a:t>.</a:t>
            </a:r>
          </a:p>
          <a:p>
            <a:pPr algn="just"/>
            <a:r>
              <a:rPr lang="en-IN" sz="2000" dirty="0">
                <a:latin typeface="Times New Roman" panose="02020603050405020304" pitchFamily="18" charset="0"/>
                <a:cs typeface="Times New Roman" panose="02020603050405020304" pitchFamily="18" charset="0"/>
              </a:rPr>
              <a:t>A </a:t>
            </a:r>
            <a:r>
              <a:rPr lang="en-IN" sz="2000" b="1" dirty="0">
                <a:latin typeface="Times New Roman" panose="02020603050405020304" pitchFamily="18" charset="0"/>
                <a:cs typeface="Times New Roman" panose="02020603050405020304" pitchFamily="18" charset="0"/>
              </a:rPr>
              <a:t>Streamlit – Based Web Platform</a:t>
            </a:r>
            <a:r>
              <a:rPr lang="en-IN" sz="2000" dirty="0">
                <a:latin typeface="Times New Roman" panose="02020603050405020304" pitchFamily="18" charset="0"/>
                <a:cs typeface="Times New Roman" panose="02020603050405020304" pitchFamily="18" charset="0"/>
              </a:rPr>
              <a:t> provides an interactive interface through which users can access dashboards and analytics.</a:t>
            </a:r>
          </a:p>
          <a:p>
            <a:pPr algn="just"/>
            <a:r>
              <a:rPr lang="en-IN" sz="2000" dirty="0">
                <a:latin typeface="Times New Roman" panose="02020603050405020304" pitchFamily="18" charset="0"/>
                <a:cs typeface="Times New Roman" panose="02020603050405020304" pitchFamily="18" charset="0"/>
              </a:rPr>
              <a:t>Further</a:t>
            </a:r>
            <a:r>
              <a:rPr lang="en-IN" sz="2000" b="1" dirty="0">
                <a:latin typeface="Times New Roman" panose="02020603050405020304" pitchFamily="18" charset="0"/>
                <a:cs typeface="Times New Roman" panose="02020603050405020304" pitchFamily="18" charset="0"/>
              </a:rPr>
              <a:t> Machine – Learning Sales Forecasting Module</a:t>
            </a:r>
            <a:r>
              <a:rPr lang="en-IN" sz="2000" dirty="0">
                <a:latin typeface="Times New Roman" panose="02020603050405020304" pitchFamily="18" charset="0"/>
                <a:cs typeface="Times New Roman" panose="02020603050405020304" pitchFamily="18" charset="0"/>
              </a:rPr>
              <a:t> can be used for historical sales data to predict future sales and trends. Also, </a:t>
            </a:r>
            <a:r>
              <a:rPr lang="en-IN" sz="2000" b="1" dirty="0">
                <a:latin typeface="Times New Roman" panose="02020603050405020304" pitchFamily="18" charset="0"/>
                <a:cs typeface="Times New Roman" panose="02020603050405020304" pitchFamily="18" charset="0"/>
              </a:rPr>
              <a:t>AI Agent </a:t>
            </a:r>
            <a:r>
              <a:rPr lang="en-IN" sz="2000" dirty="0">
                <a:latin typeface="Times New Roman" panose="02020603050405020304" pitchFamily="18" charset="0"/>
                <a:cs typeface="Times New Roman" panose="02020603050405020304" pitchFamily="18" charset="0"/>
              </a:rPr>
              <a:t>can be proposed for web platform for </a:t>
            </a:r>
            <a:r>
              <a:rPr lang="en-IN" sz="2000" b="1" dirty="0">
                <a:latin typeface="Times New Roman" panose="02020603050405020304" pitchFamily="18" charset="0"/>
                <a:cs typeface="Times New Roman" panose="02020603050405020304" pitchFamily="18" charset="0"/>
              </a:rPr>
              <a:t>easy and user – friendly environment.</a:t>
            </a:r>
          </a:p>
          <a:p>
            <a:pPr marL="0" indent="0" algn="just">
              <a:buNone/>
            </a:pPr>
            <a:r>
              <a:rPr lang="en-IN" sz="2000" b="1" dirty="0">
                <a:latin typeface="Times New Roman" panose="02020603050405020304" pitchFamily="18" charset="0"/>
                <a:cs typeface="Times New Roman" panose="02020603050405020304" pitchFamily="18" charset="0"/>
              </a:rPr>
              <a:t>ADVANTAGES OF THE PROPOSED SYSTEM:</a:t>
            </a:r>
          </a:p>
          <a:p>
            <a:pPr algn="just"/>
            <a:r>
              <a:rPr lang="en-IN" sz="2000" b="1" dirty="0">
                <a:latin typeface="Times New Roman" panose="02020603050405020304" pitchFamily="18" charset="0"/>
                <a:cs typeface="Times New Roman" panose="02020603050405020304" pitchFamily="18" charset="0"/>
              </a:rPr>
              <a:t>Centralized Data Management </a:t>
            </a:r>
            <a:r>
              <a:rPr lang="en-IN" sz="2000" dirty="0">
                <a:latin typeface="Times New Roman" panose="02020603050405020304" pitchFamily="18" charset="0"/>
                <a:cs typeface="Times New Roman" panose="02020603050405020304" pitchFamily="18" charset="0"/>
              </a:rPr>
              <a:t>(PostgreSQL)</a:t>
            </a:r>
          </a:p>
          <a:p>
            <a:pPr algn="just"/>
            <a:r>
              <a:rPr lang="en-IN" sz="2000" b="1" dirty="0">
                <a:latin typeface="Times New Roman" panose="02020603050405020304" pitchFamily="18" charset="0"/>
                <a:cs typeface="Times New Roman" panose="02020603050405020304" pitchFamily="18" charset="0"/>
              </a:rPr>
              <a:t>Improved Data Quality </a:t>
            </a:r>
            <a:r>
              <a:rPr lang="en-IN" sz="2000" dirty="0">
                <a:latin typeface="Times New Roman" panose="02020603050405020304" pitchFamily="18" charset="0"/>
                <a:cs typeface="Times New Roman" panose="02020603050405020304" pitchFamily="18" charset="0"/>
              </a:rPr>
              <a:t>(handles missing values, duplicates, inconsistent formats, and invalid records before analysis)</a:t>
            </a:r>
          </a:p>
          <a:p>
            <a:pPr algn="just"/>
            <a:r>
              <a:rPr lang="en-IN" sz="2000" b="1" dirty="0">
                <a:latin typeface="Times New Roman" panose="02020603050405020304" pitchFamily="18" charset="0"/>
                <a:cs typeface="Times New Roman" panose="02020603050405020304" pitchFamily="18" charset="0"/>
              </a:rPr>
              <a:t>Interactive Dashboard </a:t>
            </a:r>
            <a:r>
              <a:rPr lang="en-IN" sz="2000" dirty="0">
                <a:latin typeface="Times New Roman" panose="02020603050405020304" pitchFamily="18" charset="0"/>
                <a:cs typeface="Times New Roman" panose="02020603050405020304" pitchFamily="18" charset="0"/>
              </a:rPr>
              <a:t>(an interactive Streamlit – based interface) / Power BI</a:t>
            </a:r>
          </a:p>
          <a:p>
            <a:pPr algn="just"/>
            <a:r>
              <a:rPr lang="en-IN" sz="2000" b="1" dirty="0">
                <a:latin typeface="Times New Roman" panose="02020603050405020304" pitchFamily="18" charset="0"/>
                <a:cs typeface="Times New Roman" panose="02020603050405020304" pitchFamily="18" charset="0"/>
              </a:rPr>
              <a:t>Predictive Analytics </a:t>
            </a:r>
            <a:r>
              <a:rPr lang="en-IN" sz="2000" dirty="0">
                <a:latin typeface="Times New Roman" panose="02020603050405020304" pitchFamily="18" charset="0"/>
                <a:cs typeface="Times New Roman" panose="02020603050405020304" pitchFamily="18" charset="0"/>
              </a:rPr>
              <a:t>(machine – learning techniques)</a:t>
            </a:r>
          </a:p>
          <a:p>
            <a:pPr algn="just">
              <a:buFont typeface="Wingdings" pitchFamily="2" charset="2"/>
              <a:buChar char="Ø"/>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48916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4BC5B-3153-420E-27F2-98D6C0015E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041C98-9287-7AD5-15E6-FD8AEF0E438E}"/>
              </a:ext>
            </a:extLst>
          </p:cNvPr>
          <p:cNvSpPr>
            <a:spLocks noGrp="1"/>
          </p:cNvSpPr>
          <p:nvPr>
            <p:ph type="title"/>
          </p:nvPr>
        </p:nvSpPr>
        <p:spPr>
          <a:xfrm>
            <a:off x="0" y="0"/>
            <a:ext cx="12192000" cy="1203649"/>
          </a:xfrm>
        </p:spPr>
        <p:txBody>
          <a:bodyPr/>
          <a:lstStyle/>
          <a:p>
            <a:pPr algn="ctr"/>
            <a:r>
              <a:rPr lang="en-IN" sz="3600" b="1" dirty="0">
                <a:latin typeface="Times New Roman" panose="02020603050405020304" pitchFamily="18" charset="0"/>
                <a:cs typeface="Times New Roman" panose="02020603050405020304" pitchFamily="18" charset="0"/>
              </a:rPr>
              <a:t>BLOCK DIAGRAM</a:t>
            </a:r>
          </a:p>
        </p:txBody>
      </p:sp>
      <p:sp>
        <p:nvSpPr>
          <p:cNvPr id="3" name="Content Placeholder 2">
            <a:extLst>
              <a:ext uri="{FF2B5EF4-FFF2-40B4-BE49-F238E27FC236}">
                <a16:creationId xmlns:a16="http://schemas.microsoft.com/office/drawing/2014/main" id="{09C8B375-CD84-91C6-221C-146A39DE5257}"/>
              </a:ext>
            </a:extLst>
          </p:cNvPr>
          <p:cNvSpPr>
            <a:spLocks noGrp="1"/>
          </p:cNvSpPr>
          <p:nvPr>
            <p:ph idx="1"/>
          </p:nvPr>
        </p:nvSpPr>
        <p:spPr>
          <a:xfrm>
            <a:off x="1" y="1195718"/>
            <a:ext cx="12191999" cy="4973314"/>
          </a:xfrm>
        </p:spPr>
        <p:txBody>
          <a:bodyPr>
            <a:normAutofit/>
          </a:bodyPr>
          <a:lstStyle/>
          <a:p>
            <a:endParaRPr lang="en-IN" dirty="0"/>
          </a:p>
        </p:txBody>
      </p:sp>
      <p:pic>
        <p:nvPicPr>
          <p:cNvPr id="6" name="Picture 5" descr="Generated image: E-Commerce Analytics Pipeline Flowchart">
            <a:extLst>
              <a:ext uri="{FF2B5EF4-FFF2-40B4-BE49-F238E27FC236}">
                <a16:creationId xmlns:a16="http://schemas.microsoft.com/office/drawing/2014/main" id="{FB8486D5-163B-7E46-B208-681619C31EF7}"/>
              </a:ext>
            </a:extLst>
          </p:cNvPr>
          <p:cNvPicPr>
            <a:picLocks noChangeAspect="1"/>
          </p:cNvPicPr>
          <p:nvPr/>
        </p:nvPicPr>
        <p:blipFill>
          <a:blip r:embed="rId2"/>
          <a:stretch>
            <a:fillRect/>
          </a:stretch>
        </p:blipFill>
        <p:spPr>
          <a:xfrm>
            <a:off x="0" y="1195718"/>
            <a:ext cx="12191998" cy="4973314"/>
          </a:xfrm>
          <a:prstGeom prst="rect">
            <a:avLst/>
          </a:prstGeom>
        </p:spPr>
      </p:pic>
    </p:spTree>
    <p:extLst>
      <p:ext uri="{BB962C8B-B14F-4D97-AF65-F5344CB8AC3E}">
        <p14:creationId xmlns:p14="http://schemas.microsoft.com/office/powerpoint/2010/main" val="42673695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76D2E-3A19-4D6C-8ADD-F94385C56703}"/>
              </a:ext>
            </a:extLst>
          </p:cNvPr>
          <p:cNvSpPr>
            <a:spLocks noGrp="1"/>
          </p:cNvSpPr>
          <p:nvPr>
            <p:ph type="title"/>
          </p:nvPr>
        </p:nvSpPr>
        <p:spPr>
          <a:xfrm>
            <a:off x="0" y="0"/>
            <a:ext cx="12192000" cy="1203649"/>
          </a:xfrm>
        </p:spPr>
        <p:txBody>
          <a:bodyPr/>
          <a:lstStyle/>
          <a:p>
            <a:pPr algn="ctr"/>
            <a:r>
              <a:rPr lang="en-IN" sz="3600" b="1" dirty="0">
                <a:latin typeface="Times New Roman" panose="02020603050405020304" pitchFamily="18" charset="0"/>
                <a:cs typeface="Times New Roman" panose="02020603050405020304" pitchFamily="18" charset="0"/>
              </a:rPr>
              <a:t>MODULES (SPLIT – UP)</a:t>
            </a:r>
          </a:p>
        </p:txBody>
      </p:sp>
      <p:sp>
        <p:nvSpPr>
          <p:cNvPr id="3" name="Content Placeholder 2">
            <a:extLst>
              <a:ext uri="{FF2B5EF4-FFF2-40B4-BE49-F238E27FC236}">
                <a16:creationId xmlns:a16="http://schemas.microsoft.com/office/drawing/2014/main" id="{ECFCE915-4185-4C62-8EF2-A59B4F631E3C}"/>
              </a:ext>
            </a:extLst>
          </p:cNvPr>
          <p:cNvSpPr>
            <a:spLocks noGrp="1"/>
          </p:cNvSpPr>
          <p:nvPr>
            <p:ph idx="1"/>
          </p:nvPr>
        </p:nvSpPr>
        <p:spPr>
          <a:xfrm>
            <a:off x="1" y="1195718"/>
            <a:ext cx="12191999" cy="4973314"/>
          </a:xfrm>
        </p:spPr>
        <p:txBody>
          <a:bodyPr>
            <a:normAutofit fontScale="92500"/>
          </a:bodyPr>
          <a:lstStyle/>
          <a:p>
            <a:pPr algn="just"/>
            <a:r>
              <a:rPr lang="en-IN" sz="2200" b="1" dirty="0">
                <a:latin typeface="Times New Roman" panose="02020603050405020304" pitchFamily="18" charset="0"/>
                <a:cs typeface="Times New Roman" panose="02020603050405020304" pitchFamily="18" charset="0"/>
              </a:rPr>
              <a:t>DATA COLLECTION:</a:t>
            </a:r>
          </a:p>
          <a:p>
            <a:pPr marL="0" indent="0" algn="just">
              <a:buNone/>
            </a:pPr>
            <a:r>
              <a:rPr lang="en-IN" sz="2200" dirty="0">
                <a:latin typeface="Times New Roman" panose="02020603050405020304" pitchFamily="18" charset="0"/>
                <a:cs typeface="Times New Roman" panose="02020603050405020304" pitchFamily="18" charset="0"/>
              </a:rPr>
              <a:t>Collects e – commerce data from CSV/Excel files and prepares it for processing – </a:t>
            </a:r>
            <a:r>
              <a:rPr lang="en-IN" sz="2200" b="1" dirty="0">
                <a:latin typeface="Times New Roman" panose="02020603050405020304" pitchFamily="18" charset="0"/>
                <a:cs typeface="Times New Roman" panose="02020603050405020304" pitchFamily="18" charset="0"/>
              </a:rPr>
              <a:t>Python </a:t>
            </a:r>
          </a:p>
          <a:p>
            <a:pPr algn="just"/>
            <a:r>
              <a:rPr lang="en-IN" sz="2200" b="1" dirty="0">
                <a:latin typeface="Times New Roman" panose="02020603050405020304" pitchFamily="18" charset="0"/>
                <a:cs typeface="Times New Roman" panose="02020603050405020304" pitchFamily="18" charset="0"/>
              </a:rPr>
              <a:t>DATA CLEANING:</a:t>
            </a:r>
          </a:p>
          <a:p>
            <a:pPr marL="0" indent="0" algn="just">
              <a:buNone/>
            </a:pPr>
            <a:r>
              <a:rPr lang="en-IN" sz="2200" dirty="0">
                <a:latin typeface="Times New Roman" panose="02020603050405020304" pitchFamily="18" charset="0"/>
                <a:cs typeface="Times New Roman" panose="02020603050405020304" pitchFamily="18" charset="0"/>
              </a:rPr>
              <a:t>Handles missing values, duplicate records, incorrect data types, inconsistent values, and performs necessary transformations – </a:t>
            </a:r>
            <a:r>
              <a:rPr lang="en-IN" sz="2200" b="1" dirty="0">
                <a:latin typeface="Times New Roman" panose="02020603050405020304" pitchFamily="18" charset="0"/>
                <a:cs typeface="Times New Roman" panose="02020603050405020304" pitchFamily="18" charset="0"/>
              </a:rPr>
              <a:t>Python, Pandas </a:t>
            </a:r>
          </a:p>
          <a:p>
            <a:pPr algn="just"/>
            <a:r>
              <a:rPr lang="en-IN" sz="2200" b="1" dirty="0">
                <a:latin typeface="Times New Roman" panose="02020603050405020304" pitchFamily="18" charset="0"/>
                <a:cs typeface="Times New Roman" panose="02020603050405020304" pitchFamily="18" charset="0"/>
              </a:rPr>
              <a:t>ETL PIPELINE MODULE:</a:t>
            </a:r>
          </a:p>
          <a:p>
            <a:pPr marL="0" indent="0" algn="just">
              <a:buNone/>
            </a:pPr>
            <a:r>
              <a:rPr lang="en-IN" sz="2200" dirty="0">
                <a:latin typeface="Times New Roman" panose="02020603050405020304" pitchFamily="18" charset="0"/>
                <a:cs typeface="Times New Roman" panose="02020603050405020304" pitchFamily="18" charset="0"/>
              </a:rPr>
              <a:t>Integrates Extract, Transform, Validate, and Load operations into a complete automated data pipeline.</a:t>
            </a:r>
          </a:p>
          <a:p>
            <a:pPr algn="just"/>
            <a:r>
              <a:rPr lang="en-IN" sz="2200" b="1" dirty="0">
                <a:latin typeface="Times New Roman" panose="02020603050405020304" pitchFamily="18" charset="0"/>
                <a:cs typeface="Times New Roman" panose="02020603050405020304" pitchFamily="18" charset="0"/>
              </a:rPr>
              <a:t>DATABASE MANAGEMENT MODULE:</a:t>
            </a:r>
          </a:p>
          <a:p>
            <a:pPr marL="0" indent="0" algn="just">
              <a:buNone/>
            </a:pPr>
            <a:r>
              <a:rPr lang="en-IN" sz="2200" dirty="0">
                <a:latin typeface="Times New Roman" panose="02020603050405020304" pitchFamily="18" charset="0"/>
                <a:cs typeface="Times New Roman" panose="02020603050405020304" pitchFamily="18" charset="0"/>
              </a:rPr>
              <a:t>Stores processed e-commerce data in structured relational tables and manages relationships between them – </a:t>
            </a:r>
            <a:r>
              <a:rPr lang="en-IN" sz="2200" b="1" dirty="0">
                <a:latin typeface="Times New Roman" panose="02020603050405020304" pitchFamily="18" charset="0"/>
                <a:cs typeface="Times New Roman" panose="02020603050405020304" pitchFamily="18" charset="0"/>
              </a:rPr>
              <a:t>PostgreSQL, SQL</a:t>
            </a:r>
          </a:p>
          <a:p>
            <a:pPr algn="just"/>
            <a:r>
              <a:rPr lang="en-IN" sz="2200" b="1" dirty="0">
                <a:latin typeface="Times New Roman" panose="02020603050405020304" pitchFamily="18" charset="0"/>
                <a:cs typeface="Times New Roman" panose="02020603050405020304" pitchFamily="18" charset="0"/>
              </a:rPr>
              <a:t>STREAMLIT DASHBOARD:</a:t>
            </a:r>
          </a:p>
          <a:p>
            <a:pPr marL="0" indent="0" algn="just">
              <a:buNone/>
            </a:pPr>
            <a:r>
              <a:rPr lang="en-IN" sz="2200" dirty="0">
                <a:latin typeface="Times New Roman" panose="02020603050405020304" pitchFamily="18" charset="0"/>
                <a:cs typeface="Times New Roman" panose="02020603050405020304" pitchFamily="18" charset="0"/>
              </a:rPr>
              <a:t>Displays KPIs, trends, comparisons, and analytical results through an interactive web – based dashboard – </a:t>
            </a:r>
            <a:r>
              <a:rPr lang="en-IN" sz="2200" b="1" dirty="0">
                <a:latin typeface="Times New Roman" panose="02020603050405020304" pitchFamily="18" charset="0"/>
                <a:cs typeface="Times New Roman" panose="02020603050405020304" pitchFamily="18" charset="0"/>
              </a:rPr>
              <a:t>Streamlit</a:t>
            </a:r>
          </a:p>
          <a:p>
            <a:pPr algn="just"/>
            <a:r>
              <a:rPr lang="en-IN" sz="2200" b="1" dirty="0">
                <a:latin typeface="Times New Roman" panose="02020603050405020304" pitchFamily="18" charset="0"/>
                <a:cs typeface="Times New Roman" panose="02020603050405020304" pitchFamily="18" charset="0"/>
              </a:rPr>
              <a:t>REPORTS &amp; INSIGHTS</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297378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98B6B7-707F-DF35-DBC3-55B17957B4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FB64E3-B1A5-1E8B-60F8-1A4654F7CFDD}"/>
              </a:ext>
            </a:extLst>
          </p:cNvPr>
          <p:cNvSpPr>
            <a:spLocks noGrp="1"/>
          </p:cNvSpPr>
          <p:nvPr>
            <p:ph type="title"/>
          </p:nvPr>
        </p:nvSpPr>
        <p:spPr>
          <a:xfrm>
            <a:off x="0" y="0"/>
            <a:ext cx="12192000" cy="1203649"/>
          </a:xfrm>
        </p:spPr>
        <p:txBody>
          <a:bodyPr/>
          <a:lstStyle/>
          <a:p>
            <a:pPr algn="ctr"/>
            <a:r>
              <a:rPr lang="en-IN" sz="3600" b="1"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D8CF1567-1951-52C3-0153-D7F7BB091DDA}"/>
              </a:ext>
            </a:extLst>
          </p:cNvPr>
          <p:cNvSpPr>
            <a:spLocks noGrp="1"/>
          </p:cNvSpPr>
          <p:nvPr>
            <p:ph idx="1"/>
          </p:nvPr>
        </p:nvSpPr>
        <p:spPr>
          <a:xfrm>
            <a:off x="0" y="942342"/>
            <a:ext cx="12191999" cy="5915657"/>
          </a:xfrm>
        </p:spPr>
        <p:txBody>
          <a:bodyPr>
            <a:normAutofit lnSpcReduction="10000"/>
          </a:bodyPr>
          <a:lstStyle/>
          <a:p>
            <a:pPr algn="just">
              <a:lnSpc>
                <a:spcPct val="110000"/>
              </a:lnSpc>
            </a:pPr>
            <a:r>
              <a:rPr lang="en-IN" sz="2000" b="1" dirty="0">
                <a:latin typeface="Times New Roman" panose="02020603050405020304" pitchFamily="18" charset="0"/>
                <a:cs typeface="Times New Roman" panose="02020603050405020304" pitchFamily="18" charset="0"/>
              </a:rPr>
              <a:t>M. K. Mahesha, S. B. Sagar, T. Tejonidhi, Y. N. Yashwanth, and A. V., </a:t>
            </a:r>
            <a:r>
              <a:rPr lang="en-IN" sz="2000" dirty="0">
                <a:latin typeface="Times New Roman" panose="02020603050405020304" pitchFamily="18" charset="0"/>
                <a:cs typeface="Times New Roman" panose="02020603050405020304" pitchFamily="18" charset="0"/>
              </a:rPr>
              <a:t>“A review on real-time data pipelines for e-commerce transactional data analytics,” EPRA International Journal of Research &amp; Development, vol. 10, no. 8, Aug. 2025.</a:t>
            </a:r>
          </a:p>
          <a:p>
            <a:pPr algn="just">
              <a:lnSpc>
                <a:spcPct val="110000"/>
              </a:lnSpc>
            </a:pPr>
            <a:r>
              <a:rPr lang="en-IN" sz="2000" b="1" dirty="0">
                <a:latin typeface="Times New Roman" panose="02020603050405020304" pitchFamily="18" charset="0"/>
                <a:cs typeface="Times New Roman" panose="02020603050405020304" pitchFamily="18" charset="0"/>
              </a:rPr>
              <a:t>L. M. Policarpo, D. E. da Silveira, R. da Rosa Righi, R. A. Stoffel, C. A. da Costa, J. L. V. Barbosa, R. Scorsatto, and T. Arcot, </a:t>
            </a:r>
            <a:r>
              <a:rPr lang="en-IN" sz="2000" dirty="0">
                <a:latin typeface="Times New Roman" panose="02020603050405020304" pitchFamily="18" charset="0"/>
                <a:cs typeface="Times New Roman" panose="02020603050405020304" pitchFamily="18" charset="0"/>
              </a:rPr>
              <a:t>“Machine learning through the lens of e-commerce initiatives: An up-to-date systematic literature review,” Computer Science Review, vol. 41, art. no. 100414, Aug. 2021.</a:t>
            </a:r>
          </a:p>
          <a:p>
            <a:pPr algn="just">
              <a:lnSpc>
                <a:spcPct val="110000"/>
              </a:lnSpc>
            </a:pPr>
            <a:r>
              <a:rPr lang="en-IN" sz="2000" b="1" dirty="0">
                <a:latin typeface="Times New Roman" panose="02020603050405020304" pitchFamily="18" charset="0"/>
                <a:cs typeface="Times New Roman" panose="02020603050405020304" pitchFamily="18" charset="0"/>
              </a:rPr>
              <a:t>Gamboa-Cruzado, T. Mosqueira-Cerda, A. Torre Camones, R. Quispe Mendoza, A. F. Navarro Raymundo, J. Jiménez García, and B. C. López-Ramírez, </a:t>
            </a:r>
            <a:r>
              <a:rPr lang="en-IN" sz="2000" dirty="0">
                <a:latin typeface="Times New Roman" panose="02020603050405020304" pitchFamily="18" charset="0"/>
                <a:cs typeface="Times New Roman" panose="02020603050405020304" pitchFamily="18" charset="0"/>
              </a:rPr>
              <a:t>“Exploring the influence of machine learning in e-Commerce: A systematic and bibliometric review,” Computación y Sistemas, vol. 29, no. 2, pp. 925–953, 2025.</a:t>
            </a:r>
          </a:p>
          <a:p>
            <a:pPr algn="just">
              <a:lnSpc>
                <a:spcPct val="110000"/>
              </a:lnSpc>
            </a:pPr>
            <a:r>
              <a:rPr lang="en-IN" sz="2000" b="1" dirty="0">
                <a:latin typeface="Times New Roman" panose="02020603050405020304" pitchFamily="18" charset="0"/>
                <a:cs typeface="Times New Roman" panose="02020603050405020304" pitchFamily="18" charset="0"/>
              </a:rPr>
              <a:t>X. Hu, </a:t>
            </a:r>
            <a:r>
              <a:rPr lang="en-IN" sz="2000" dirty="0">
                <a:latin typeface="Times New Roman" panose="02020603050405020304" pitchFamily="18" charset="0"/>
                <a:cs typeface="Times New Roman" panose="02020603050405020304" pitchFamily="18" charset="0"/>
              </a:rPr>
              <a:t>“A data warehouse/online analytic processing framework for web usage mining and business intelligence reporting,” International Journal of Intelligent Systems, vol. 19, no. 7, pp. 585–606, 2004.</a:t>
            </a:r>
          </a:p>
          <a:p>
            <a:pPr algn="just">
              <a:lnSpc>
                <a:spcPct val="110000"/>
              </a:lnSpc>
            </a:pPr>
            <a:r>
              <a:rPr lang="en-IN" sz="2000" b="1" dirty="0">
                <a:latin typeface="Times New Roman" panose="02020603050405020304" pitchFamily="18" charset="0"/>
                <a:cs typeface="Times New Roman" panose="02020603050405020304" pitchFamily="18" charset="0"/>
              </a:rPr>
              <a:t>M. N. Prakoso and Nuryuliani, </a:t>
            </a:r>
            <a:r>
              <a:rPr lang="en-IN" sz="2000" dirty="0">
                <a:latin typeface="Times New Roman" panose="02020603050405020304" pitchFamily="18" charset="0"/>
                <a:cs typeface="Times New Roman" panose="02020603050405020304" pitchFamily="18" charset="0"/>
              </a:rPr>
              <a:t>“Application development of e-commerce business intelligence dashboard,” International Journal of Computer Sciences and Engineering, vol. 7, no. 8, 2019.</a:t>
            </a:r>
          </a:p>
          <a:p>
            <a:pPr algn="just">
              <a:lnSpc>
                <a:spcPct val="110000"/>
              </a:lnSpc>
            </a:pPr>
            <a:r>
              <a:rPr lang="en-IN" sz="2000" b="1" dirty="0">
                <a:latin typeface="Times New Roman" panose="02020603050405020304" pitchFamily="18" charset="0"/>
                <a:cs typeface="Times New Roman" panose="02020603050405020304" pitchFamily="18" charset="0"/>
              </a:rPr>
              <a:t>P. Hutabalian, </a:t>
            </a:r>
            <a:r>
              <a:rPr lang="en-IN" sz="2000" dirty="0">
                <a:latin typeface="Times New Roman" panose="02020603050405020304" pitchFamily="18" charset="0"/>
                <a:cs typeface="Times New Roman" panose="02020603050405020304" pitchFamily="18" charset="0"/>
              </a:rPr>
              <a:t>“Implementasi Pipeline ETL/ELT dan Model Dimensional untuk Analisis Penjualan Shopee Menggunakan PostgreSQL, Docker, dan Apache Superset,” Jurnal Informatika dan Teknik Elektro Terapan, vol. 13, no. 3S1, 2025.</a:t>
            </a:r>
          </a:p>
        </p:txBody>
      </p:sp>
    </p:spTree>
    <p:extLst>
      <p:ext uri="{BB962C8B-B14F-4D97-AF65-F5344CB8AC3E}">
        <p14:creationId xmlns:p14="http://schemas.microsoft.com/office/powerpoint/2010/main" val="4057364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76D2E-3A19-4D6C-8ADD-F94385C56703}"/>
              </a:ext>
            </a:extLst>
          </p:cNvPr>
          <p:cNvSpPr>
            <a:spLocks noGrp="1"/>
          </p:cNvSpPr>
          <p:nvPr>
            <p:ph type="title"/>
          </p:nvPr>
        </p:nvSpPr>
        <p:spPr>
          <a:xfrm>
            <a:off x="0" y="2827175"/>
            <a:ext cx="12192000" cy="1203649"/>
          </a:xfrm>
        </p:spPr>
        <p:txBody>
          <a:bodyPr/>
          <a:lstStyle/>
          <a:p>
            <a:pPr algn="ctr"/>
            <a:r>
              <a:rPr lang="en-IN" sz="3600" b="1" dirty="0">
                <a:latin typeface="Times New Roman" panose="02020603050405020304" pitchFamily="18" charset="0"/>
                <a:cs typeface="Times New Roman" panose="02020603050405020304" pitchFamily="18" charset="0"/>
              </a:rPr>
              <a:t>THANK YOU</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344110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6114</TotalTime>
  <Words>1451</Words>
  <Application>Microsoft Macintosh PowerPoint</Application>
  <PresentationFormat>Widescreen</PresentationFormat>
  <Paragraphs>95</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Calibri Light</vt:lpstr>
      <vt:lpstr>Times New Roman</vt:lpstr>
      <vt:lpstr>Wingdings</vt:lpstr>
      <vt:lpstr>Office Theme</vt:lpstr>
      <vt:lpstr>PowerPoint Presentation</vt:lpstr>
      <vt:lpstr>OUTLINE </vt:lpstr>
      <vt:lpstr>ABSTRACT</vt:lpstr>
      <vt:lpstr>LITERATURE SURVEY</vt:lpstr>
      <vt:lpstr>EXISTING SYSTEM</vt:lpstr>
      <vt:lpstr>PROPOSED SYSTEM</vt:lpstr>
      <vt:lpstr>BLOCK DIAGRAM</vt:lpstr>
      <vt:lpstr>MODULES (SPLIT – UP)</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Pravallika Reddy</dc:creator>
  <cp:lastModifiedBy>KOLACHINA SREE AKHIL</cp:lastModifiedBy>
  <cp:revision>96</cp:revision>
  <dcterms:created xsi:type="dcterms:W3CDTF">2021-05-18T14:01:25Z</dcterms:created>
  <dcterms:modified xsi:type="dcterms:W3CDTF">2026-08-25T06:19:07Z</dcterms:modified>
</cp:coreProperties>
</file>